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8" d="100"/>
          <a:sy n="88" d="100"/>
        </p:scale>
        <p:origin x="222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14400" y="1371600"/>
            <a:ext cx="137160" cy="41148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280160" y="1371600"/>
            <a:ext cx="9601200" cy="30931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0EA5E9"/>
                </a:solidFill>
                <a:latin typeface="Segoe UI"/>
              </a:defRPr>
            </a:pPr>
            <a:r>
              <a:rPr dirty="0"/>
              <a:t>TUGAS ANALISIS DAN PENGUJIAN SISTEM</a:t>
            </a:r>
          </a:p>
          <a:p>
            <a:pPr>
              <a:spcAft>
                <a:spcPts val="1400"/>
              </a:spcAft>
              <a:defRPr sz="3600" b="1">
                <a:solidFill>
                  <a:srgbClr val="FFFFFF"/>
                </a:solidFill>
                <a:latin typeface="Segoe UI"/>
              </a:defRPr>
            </a:pPr>
            <a:r>
              <a:rPr dirty="0"/>
              <a:t>ROOT CAUSE ANALYSIS (RCA)</a:t>
            </a:r>
            <a:br>
              <a:rPr dirty="0"/>
            </a:br>
            <a:r>
              <a:rPr dirty="0"/>
              <a:t>&amp; DEFECT IDENTIFICATION</a:t>
            </a:r>
          </a:p>
          <a:p>
            <a:pPr>
              <a:spcAft>
                <a:spcPts val="3200"/>
              </a:spcAft>
              <a:defRPr sz="1500">
                <a:solidFill>
                  <a:srgbClr val="CBD5E1"/>
                </a:solidFill>
                <a:latin typeface="Segoe UI"/>
              </a:defRPr>
            </a:pPr>
            <a:r>
              <a:rPr dirty="0"/>
              <a:t>Studi </a:t>
            </a:r>
            <a:r>
              <a:rPr dirty="0" err="1"/>
              <a:t>Kasus</a:t>
            </a:r>
            <a:r>
              <a:rPr dirty="0"/>
              <a:t> </a:t>
            </a:r>
            <a:r>
              <a:rPr dirty="0" err="1"/>
              <a:t>Penemuan</a:t>
            </a:r>
            <a:r>
              <a:rPr dirty="0"/>
              <a:t> 3 Defect </a:t>
            </a:r>
            <a:r>
              <a:rPr dirty="0" err="1"/>
              <a:t>Kritis</a:t>
            </a:r>
            <a:r>
              <a:rPr dirty="0"/>
              <a:t>, </a:t>
            </a:r>
            <a:r>
              <a:rPr dirty="0" err="1"/>
              <a:t>Analisis</a:t>
            </a:r>
            <a:r>
              <a:rPr dirty="0"/>
              <a:t> 5-Whys, Diagram Fishbone, </a:t>
            </a:r>
            <a:r>
              <a:rPr dirty="0" err="1"/>
              <a:t>serta</a:t>
            </a:r>
            <a:r>
              <a:rPr dirty="0"/>
              <a:t> </a:t>
            </a:r>
            <a:r>
              <a:rPr dirty="0" err="1"/>
              <a:t>Verifikasi</a:t>
            </a:r>
            <a:r>
              <a:rPr dirty="0"/>
              <a:t> </a:t>
            </a:r>
            <a:r>
              <a:rPr dirty="0" err="1"/>
              <a:t>Perbaikan</a:t>
            </a:r>
            <a:r>
              <a:rPr dirty="0"/>
              <a:t> pada Mini E-Commerce Order System</a:t>
            </a:r>
          </a:p>
          <a:p>
            <a:pPr>
              <a:defRPr sz="1600" b="1">
                <a:solidFill>
                  <a:srgbClr val="FFFFFF"/>
                </a:solidFill>
                <a:latin typeface="Segoe UI"/>
              </a:defRPr>
            </a:pPr>
            <a:r>
              <a:rPr dirty="0" err="1"/>
              <a:t>Disusun</a:t>
            </a:r>
            <a:r>
              <a:rPr dirty="0"/>
              <a:t> Oleh : </a:t>
            </a:r>
            <a:r>
              <a:rPr dirty="0" err="1"/>
              <a:t>Zainul</a:t>
            </a:r>
            <a:r>
              <a:rPr dirty="0"/>
              <a:t> </a:t>
            </a:r>
            <a:r>
              <a:rPr dirty="0" err="1"/>
              <a:t>Mutawakkil</a:t>
            </a:r>
            <a:r>
              <a:rPr dirty="0"/>
              <a:t>  |  NIM : 23EO10003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rPr dirty="0"/>
              <a:t>Mata </a:t>
            </a:r>
            <a:r>
              <a:rPr dirty="0" err="1"/>
              <a:t>Kuliah</a:t>
            </a:r>
            <a:r>
              <a:rPr dirty="0"/>
              <a:t> : </a:t>
            </a:r>
            <a:r>
              <a:rPr dirty="0" err="1"/>
              <a:t>Analisis</a:t>
            </a:r>
            <a:r>
              <a:rPr dirty="0"/>
              <a:t> dan </a:t>
            </a:r>
            <a:r>
              <a:rPr dirty="0" err="1"/>
              <a:t>Pengujian</a:t>
            </a:r>
            <a:r>
              <a:rPr dirty="0"/>
              <a:t> </a:t>
            </a:r>
            <a:r>
              <a:rPr dirty="0" err="1"/>
              <a:t>Sistem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563EB"/>
                </a:solidFill>
                <a:latin typeface="Segoe UI"/>
              </a:defRPr>
            </a:pPr>
            <a:r>
              <a:t>ARSITEKTUR PERANGKAT LUNAK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Gambaran Umum Mini E-Commerce Order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64748B"/>
                </a:solidFill>
                <a:latin typeface="Segoe UI"/>
              </a:defRPr>
            </a:pPr>
            <a:r>
              <a:t>02 / 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563EB"/>
                </a:solidFill>
                <a:latin typeface="Segoe UI"/>
              </a:defRPr>
            </a:pPr>
            <a:r>
              <a:t>📦 Modul: Inventory Manager (inventory.py)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Mengelola ketersediaan stok fisik barang di gudang. Bertanggung jawab atas operasi cek stok dan pengurangan stok saat checkout.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645920"/>
            <a:ext cx="512064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475488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563EB"/>
                </a:solidFill>
                <a:latin typeface="Segoe UI"/>
              </a:defRPr>
            </a:pPr>
            <a:r>
              <a:t>📦 Modul: Pricing Engine (pricing.py)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Menghitung subtotal belanja, diskon bertingkat (persentase &amp; voucher nominal), serta tarif pajak pertambahan nilai (PPN 11%).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512064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475488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563EB"/>
                </a:solidFill>
                <a:latin typeface="Segoe UI"/>
              </a:defRPr>
            </a:pPr>
            <a:r>
              <a:t>📦 Modul: Payment Gateway (payment.py)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Simulasi integrasi gateway pembayaran pihak ketiga (bank/fintech) dengan skenario timeout jaringan dan saldo tidak cukup.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3931920"/>
            <a:ext cx="512064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09360" y="4114800"/>
            <a:ext cx="475488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563EB"/>
                </a:solidFill>
                <a:latin typeface="Segoe UI"/>
              </a:defRPr>
            </a:pPr>
            <a:r>
              <a:t>📦 Modul: Order Service (order_service.py)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Orchestrator utama yang menghubungkan pemotongan stok, kalkulasi tagihan, dan pemanggilan payment gateway.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577840"/>
            <a:ext cx="10515600" cy="82296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5760720"/>
            <a:ext cx="10149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Segoe UI"/>
              </a:defRPr>
            </a:pPr>
            <a:r>
              <a:t>🎯 Tujuan Mini Program: Menyediakan repositori modular realistis untuk mendemonstrasikan bagaimana celah desain kecil pada konkurensi, tipe data, dan alur transaksi dapat berkembang menjadi kegagalan sistemik berisiko tinggi.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563EB"/>
                </a:solidFill>
                <a:latin typeface="Segoe UI"/>
              </a:defRPr>
            </a:pPr>
            <a:r>
              <a:t>LANDASAN TEORI &amp; KONSEP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Taksonomi Kegagalan Software &amp; Metodologi RCA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64748B"/>
                </a:solidFill>
                <a:latin typeface="Segoe UI"/>
              </a:defRPr>
            </a:pPr>
            <a:r>
              <a:t>03 / 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563EB"/>
                </a:solidFill>
                <a:latin typeface="Segoe UI"/>
              </a:defRPr>
            </a:pPr>
            <a:r>
              <a:t>1. Taksonomi Kegagalan (Standar IEEE 610.12)</a:t>
            </a:r>
          </a:p>
          <a:p>
            <a:pPr>
              <a:spcAft>
                <a:spcPts val="200"/>
              </a:spcAft>
              <a:defRPr sz="1200" b="1">
                <a:solidFill>
                  <a:srgbClr val="64748B"/>
                </a:solidFill>
                <a:latin typeface="Segoe UI"/>
              </a:defRPr>
            </a:pPr>
            <a:r>
              <a:t>• HUMAN MISTAKE (Kekeliruan Manusia)</a:t>
            </a:r>
          </a:p>
          <a:p>
            <a:pPr>
              <a:spcAft>
                <a:spcPts val="8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  Kekeliruan kognitif atau asumsi salah oleh programmer saat merancang/menulis kode.</a:t>
            </a:r>
          </a:p>
          <a:p>
            <a:pPr>
              <a:spcAft>
                <a:spcPts val="200"/>
              </a:spcAft>
              <a:defRPr sz="1200" b="1">
                <a:solidFill>
                  <a:srgbClr val="DC2626"/>
                </a:solidFill>
                <a:latin typeface="Segoe UI"/>
              </a:defRPr>
            </a:pPr>
            <a:r>
              <a:t>• FAULT / DEFECT (Cacat pada Kode)</a:t>
            </a:r>
          </a:p>
          <a:p>
            <a:pPr>
              <a:spcAft>
                <a:spcPts val="8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  Cacat statis di dalam baris kode program (misal ketiadaan lock, penggunaan float).</a:t>
            </a:r>
          </a:p>
          <a:p>
            <a:pPr>
              <a:spcAft>
                <a:spcPts val="200"/>
              </a:spcAft>
              <a:defRPr sz="1200" b="1">
                <a:solidFill>
                  <a:srgbClr val="F59E0B"/>
                </a:solidFill>
                <a:latin typeface="Segoe UI"/>
              </a:defRPr>
            </a:pPr>
            <a:r>
              <a:t>• ERROR (Kondisi State Internal Korup)</a:t>
            </a:r>
          </a:p>
          <a:p>
            <a:pPr>
              <a:spcAft>
                <a:spcPts val="8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  Penyimpangan nilai internal di memori saat kode dieksekusi (stok bernilai -9, saldo minus).</a:t>
            </a:r>
          </a:p>
          <a:p>
            <a:pPr>
              <a:spcAft>
                <a:spcPts val="200"/>
              </a:spcAft>
              <a:defRPr sz="1200" b="1">
                <a:solidFill>
                  <a:srgbClr val="DC2626"/>
                </a:solidFill>
                <a:latin typeface="Segoe UI"/>
              </a:defRPr>
            </a:pPr>
            <a:r>
              <a:t>• FAILURE (Kegagalan Eksternal)</a:t>
            </a:r>
          </a:p>
          <a:p>
            <a:pPr>
              <a:spcAft>
                <a:spcPts val="8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  Kegagalan fungsional yang teramati langsung oleh user atau sistem luar (oversell, komplain).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64592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475488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563EB"/>
                </a:solidFill>
                <a:latin typeface="Segoe UI"/>
              </a:defRPr>
            </a:pPr>
            <a:r>
              <a:t>2. Metodologi Root Cause Analysis (RCA)</a:t>
            </a:r>
          </a:p>
          <a:p>
            <a:pPr>
              <a:spcAft>
                <a:spcPts val="2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• Metode 5-Whys (Sakichi Toyoda)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  Teknik investigasi iteratif dengan menanyakan 'Mengapa' minimal 5 kali secara beruntun dari gejala luar hingga menembus akar masalah terdalam (organisasi, desain arsitektur, atau proses QA).</a:t>
            </a:r>
          </a:p>
          <a:p>
            <a:pPr>
              <a:spcAft>
                <a:spcPts val="2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• Ishikawa / Fishbone Diagram (Kaoru Ishikawa)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  Diagram sebab-akibat untuk memetakan akar penyebab ke dalam 4 kategori komprehensif:</a:t>
            </a:r>
            <a:br/>
            <a:r>
              <a:t> - Man (Keahlian &amp; kelalaian manusia)</a:t>
            </a:r>
            <a:br/>
            <a:r>
              <a:t> - Machine (Infrastruktur, thread, hardware)</a:t>
            </a:r>
            <a:br/>
            <a:r>
              <a:t> - Method (Metodologi pengujian, code review)</a:t>
            </a:r>
            <a:br/>
            <a:r>
              <a:t> - Material (Spesifikasi, batasan bisnis).</a:t>
            </a:r>
          </a:p>
          <a:p>
            <a:pPr>
              <a:spcAft>
                <a:spcPts val="2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• Corrective &amp; Preventive Actions (CAPA)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  Output terpenting RCA: Solusi kuratif langsung (bug fix) dan solusi preventif jangka panjang (otomasi QA) agar insiden tidak terulang.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563EB"/>
                </a:solidFill>
                <a:latin typeface="Segoe UI"/>
              </a:defRPr>
            </a:pPr>
            <a:r>
              <a:t>HASIL IDENTIFIKASI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Ringkasan 3 Defect/Fault Kritis yang Ditemukan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64748B"/>
                </a:solidFill>
                <a:latin typeface="Segoe UI"/>
              </a:defRPr>
            </a:pPr>
            <a:r>
              <a:t>04 / 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301752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DC2626"/>
                </a:solidFill>
                <a:latin typeface="Segoe UI"/>
              </a:defRPr>
            </a:pPr>
            <a:r>
              <a:t>⚠️ FAULT 01</a:t>
            </a:r>
          </a:p>
          <a:p>
            <a:pPr>
              <a:spcAft>
                <a:spcPts val="800"/>
              </a:spcAft>
              <a:defRPr sz="1300" b="1">
                <a:solidFill>
                  <a:srgbClr val="0F172A"/>
                </a:solidFill>
                <a:latin typeface="Segoe UI"/>
              </a:defRPr>
            </a:pPr>
            <a:r>
              <a:t>Concurrency Race Condition (Inventory Oversell)</a:t>
            </a:r>
          </a:p>
          <a:p>
            <a:pPr>
              <a:spcAft>
                <a:spcPts val="1000"/>
              </a:spcAft>
              <a:defRPr sz="1000">
                <a:solidFill>
                  <a:srgbClr val="64748B"/>
                </a:solidFill>
                <a:latin typeface="Consolas"/>
              </a:defRPr>
            </a:pPr>
            <a:r>
              <a:t>Modul: inventory.py</a:t>
            </a:r>
            <a:br/>
            <a:r>
              <a:t>Kategori: Thread-Safety &amp; Concurrency</a:t>
            </a:r>
            <a:br/>
            <a:r>
              <a:t>Severity: CRITICAL / HIGH</a:t>
            </a:r>
          </a:p>
          <a:p>
            <a:pPr>
              <a:defRPr sz="1100" b="1">
                <a:solidFill>
                  <a:srgbClr val="DC2626"/>
                </a:solidFill>
                <a:latin typeface="Segoe UI"/>
              </a:defRPr>
            </a:pPr>
            <a:r>
              <a:t>💥 Gejala Kegagalan: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Stok fisik tersisa 1 unit diserbu 10 user konkuren. Seluruh 10 pesanan lolos dan stok menjadi -9 (minus).</a:t>
            </a:r>
          </a:p>
          <a:p>
            <a:pPr>
              <a:defRPr sz="1100" b="1">
                <a:solidFill>
                  <a:srgbClr val="10B981"/>
                </a:solidFill>
                <a:latin typeface="Segoe UI"/>
              </a:defRPr>
            </a:pPr>
            <a:r>
              <a:t>🛡️ Solusi Perbaikan: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Pencegahan overselling dengan Reentrant Mutex Lock (threading.RLock).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645920"/>
            <a:ext cx="338328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480560" y="1828800"/>
            <a:ext cx="301752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59E0B"/>
                </a:solidFill>
                <a:latin typeface="Segoe UI"/>
              </a:defRPr>
            </a:pPr>
            <a:r>
              <a:t>⚠️ FAULT 02</a:t>
            </a:r>
          </a:p>
          <a:p>
            <a:pPr>
              <a:spcAft>
                <a:spcPts val="800"/>
              </a:spcAft>
              <a:defRPr sz="1300" b="1">
                <a:solidFill>
                  <a:srgbClr val="0F172A"/>
                </a:solidFill>
                <a:latin typeface="Segoe UI"/>
              </a:defRPr>
            </a:pPr>
            <a:r>
              <a:t>Float Precision Leak &amp; Unbounded Discount</a:t>
            </a:r>
          </a:p>
          <a:p>
            <a:pPr>
              <a:spcAft>
                <a:spcPts val="1000"/>
              </a:spcAft>
              <a:defRPr sz="1000">
                <a:solidFill>
                  <a:srgbClr val="64748B"/>
                </a:solidFill>
                <a:latin typeface="Consolas"/>
              </a:defRPr>
            </a:pPr>
            <a:r>
              <a:t>Modul: pricing.py</a:t>
            </a:r>
            <a:br/>
            <a:r>
              <a:t>Kategori: Business Logic &amp; Precision</a:t>
            </a:r>
            <a:br/>
            <a:r>
              <a:t>Severity: HIGH (Financial Loss)</a:t>
            </a:r>
          </a:p>
          <a:p>
            <a:pPr>
              <a:defRPr sz="1100" b="1">
                <a:solidFill>
                  <a:srgbClr val="DC2626"/>
                </a:solidFill>
                <a:latin typeface="Segoe UI"/>
              </a:defRPr>
            </a:pPr>
            <a:r>
              <a:t>💥 Gejala Kegagalan: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Penggunaan float menimbulkan biner artefak (3*0.1=0.30000000000000004) dan voucher tumpuk membuat tagihan -Rp 22.200.</a:t>
            </a:r>
          </a:p>
          <a:p>
            <a:pPr>
              <a:defRPr sz="1100" b="1">
                <a:solidFill>
                  <a:srgbClr val="10B981"/>
                </a:solidFill>
                <a:latin typeface="Segoe UI"/>
              </a:defRPr>
            </a:pPr>
            <a:r>
              <a:t>🛡️ Solusi Perbaikan: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Migrasi ke decimal.Decimal dan validasi batas atas min(discount, subtotal).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1645920"/>
            <a:ext cx="338328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46720" y="1828800"/>
            <a:ext cx="301752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DC2626"/>
                </a:solidFill>
                <a:latin typeface="Segoe UI"/>
              </a:defRPr>
            </a:pPr>
            <a:r>
              <a:t>⚠️ FAULT 03</a:t>
            </a:r>
          </a:p>
          <a:p>
            <a:pPr>
              <a:spcAft>
                <a:spcPts val="800"/>
              </a:spcAft>
              <a:defRPr sz="1300" b="1">
                <a:solidFill>
                  <a:srgbClr val="0F172A"/>
                </a:solidFill>
                <a:latin typeface="Segoe UI"/>
              </a:defRPr>
            </a:pPr>
            <a:r>
              <a:t>Phantom Stock Deduction (No Transaction Rollback)</a:t>
            </a:r>
          </a:p>
          <a:p>
            <a:pPr>
              <a:spcAft>
                <a:spcPts val="1000"/>
              </a:spcAft>
              <a:defRPr sz="1000">
                <a:solidFill>
                  <a:srgbClr val="64748B"/>
                </a:solidFill>
                <a:latin typeface="Consolas"/>
              </a:defRPr>
            </a:pPr>
            <a:r>
              <a:t>Modul: order_service.py</a:t>
            </a:r>
            <a:br/>
            <a:r>
              <a:t>Kategori: Data Integrity &amp; Transactions</a:t>
            </a:r>
            <a:br/>
            <a:r>
              <a:t>Severity: CRITICAL / DATA LOSS</a:t>
            </a:r>
          </a:p>
          <a:p>
            <a:pPr>
              <a:defRPr sz="1100" b="1">
                <a:solidFill>
                  <a:srgbClr val="DC2626"/>
                </a:solidFill>
                <a:latin typeface="Segoe UI"/>
              </a:defRPr>
            </a:pPr>
            <a:r>
              <a:t>💥 Gejala Kegagalan: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Payment gateway mengalami network timeout. Pesanan gagal tetapi stok gudang hilang permanen tanpa kembali.</a:t>
            </a:r>
          </a:p>
          <a:p>
            <a:pPr>
              <a:defRPr sz="1100" b="1">
                <a:solidFill>
                  <a:srgbClr val="10B981"/>
                </a:solidFill>
                <a:latin typeface="Segoe UI"/>
              </a:defRPr>
            </a:pPr>
            <a:r>
              <a:t>🛡️ Solusi Perbaikan: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Penerapan Compensating Transaction (try-except-rollback) untuk menjamin atomisitas.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563EB"/>
                </a:solidFill>
                <a:latin typeface="Segoe UI"/>
              </a:defRPr>
            </a:pPr>
            <a:r>
              <a:t>STUDI KASUS DEFECT 1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Fault 1: Concurrency Race Condition pada Stok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64748B"/>
                </a:solidFill>
                <a:latin typeface="Segoe UI"/>
              </a:defRPr>
            </a:pPr>
            <a:r>
              <a:t>05 / 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DC2626"/>
                </a:solidFill>
                <a:latin typeface="Segoe UI"/>
              </a:defRPr>
            </a:pPr>
            <a:r>
              <a:t>Gejala &amp; Bukti Pengujian Empiris</a:t>
            </a:r>
          </a:p>
          <a:p>
            <a:pPr>
              <a:spcAft>
                <a:spcPts val="400"/>
              </a:spcAft>
              <a:defRPr sz="1200" b="1">
                <a:latin typeface="Segoe UI"/>
              </a:defRPr>
            </a:pPr>
            <a:r>
              <a:t>Skenario Pengujian (test_faults_reproducer.py):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t>• Stok awal produk 'Laptop Gaming': 1 unit.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t>• 10 Thread pelanggan melepaskan checkout secara simultan (Barrier Synchronization).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t>• Ekspektasi: Tepat 1 transaksi berhasil, 9 transaksi ditolak.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t>• Hasil Aktual: 10 transaksi berhasil disetujui!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t>• Stok Akhir di Gudang: -9 (Minus Sembilan).</a:t>
            </a:r>
          </a:p>
          <a:p>
            <a:br/>
            <a:r>
              <a:t>Log Hasil Test Runner:</a:t>
            </a:r>
            <a:br/>
            <a:r>
              <a:t>&gt;&gt;&gt; STOK AWAL FISIK     : 1</a:t>
            </a:r>
            <a:br/>
            <a:r>
              <a:t>&gt;&gt;&gt; TRANSAKSI SUKSES    : 10 (Seharusnya maks 1!)</a:t>
            </a:r>
            <a:br/>
            <a:r>
              <a:t>&gt;&gt;&gt; STOK AKHIR DI GUDANG: -9</a:t>
            </a:r>
            <a:br/>
            <a:r>
              <a:t>&gt;&gt;&gt; FAULT 1 BERHASIL DIBUKTIKAN (OVERSELLING)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64592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475488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F172A"/>
                </a:solidFill>
                <a:latin typeface="Segoe UI"/>
              </a:defRPr>
            </a:pPr>
            <a:r>
              <a:t>Analisis Cacat Kode (Source Code Flaw)</a:t>
            </a:r>
          </a:p>
          <a:p>
            <a:pPr>
              <a:spcAft>
                <a:spcPts val="800"/>
              </a:spcAft>
              <a:defRPr sz="1100" b="1">
                <a:latin typeface="Consolas"/>
              </a:defRPr>
            </a:pPr>
            <a:r>
              <a:t>File: src/shop/inventory.py (VulnerableInventoryManager)</a:t>
            </a:r>
          </a:p>
          <a:p>
            <a:pPr>
              <a:spcAft>
                <a:spcPts val="1000"/>
              </a:spcAft>
              <a:defRPr sz="1050">
                <a:solidFill>
                  <a:srgbClr val="DC2626"/>
                </a:solidFill>
                <a:latin typeface="Consolas"/>
              </a:defRPr>
            </a:pPr>
            <a:r>
              <a:t>def deduct_stock(self, sku: str, quantity: int):</a:t>
            </a:r>
            <a:br/>
            <a:r>
              <a:t>    # 1. Pengecekan stok (Time of Check)</a:t>
            </a:r>
            <a:br/>
            <a:r>
              <a:t>    if self._products[sku].stock &gt;= quantity:</a:t>
            </a:r>
            <a:br/>
            <a:r>
              <a:t>        # 2. Jeda waktu / Context switch thread</a:t>
            </a:r>
            <a:br/>
            <a:r>
              <a:t>        time.sleep(0.005)</a:t>
            </a:r>
            <a:br/>
            <a:r>
              <a:t>        # 3. Pengurangan stok (Time of Use) - CACAT!</a:t>
            </a:r>
            <a:br/>
            <a:r>
              <a:t>        self._products[sku].stock -= quantity</a:t>
            </a:r>
            <a:br/>
            <a:r>
              <a:t>        return True</a:t>
            </a:r>
            <a:br/>
            <a:r>
              <a:t>    return False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🔴 Titik Lemah (TOCTOU):</a:t>
            </a:r>
            <a:br/>
            <a:r>
              <a:t>Di antara baris pengecekan 'if' dan eksekusi pengurangan '-=', thread lain sempat membaca nilai stok yang belum berubah. Tidak ada mutual exclusion (lock) yang melindungi critical section.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563EB"/>
                </a:solidFill>
                <a:latin typeface="Segoe UI"/>
              </a:defRPr>
            </a:pPr>
            <a:r>
              <a:t>ROOT CAUSE ANALYSIS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RCA Defect 1: 5-Whys &amp; Fishbone 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64748B"/>
                </a:solidFill>
                <a:latin typeface="Segoe UI"/>
              </a:defRPr>
            </a:pPr>
            <a:r>
              <a:t>06 / 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563EB"/>
                </a:solidFill>
                <a:latin typeface="Segoe UI"/>
              </a:defRPr>
            </a:pPr>
            <a:r>
              <a:t>5-Whys Analysis (Defect 1)</a:t>
            </a:r>
          </a:p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• Why 1: Mengapa stok bisa bernilai -9?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   👉 Karena ada 10 transaksi yang disetujui bersamaan pada stok 1.</a:t>
            </a:r>
          </a:p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• Why 2: Mengapa 10 transaksi bisa disetujui?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   👉 Karena seluruh 10 thread mendeteksi stok &gt;= 1 masih terpenuhi.</a:t>
            </a:r>
          </a:p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• Why 3: Mengapa semua thread membaca nilai yang sama?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   👉 Pembacaan dilakukan paralel sebelum thread lain sempat mengurangi stok.</a:t>
            </a:r>
          </a:p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• Why 4: Mengapa operasi baca-kurang tidak sinkron?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   👉 Tidak ada implementasi Mutex Lock pada critical section data stok.</a:t>
            </a:r>
          </a:p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• Why 5: AKAR MASALAH (Root Cause):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   👉 Developer mengira operasi memori otomatis atomik &amp; pipeline QA tidak memiliki concurrency stress test.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64592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475488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563EB"/>
                </a:solidFill>
                <a:latin typeface="Segoe UI"/>
              </a:defRPr>
            </a:pPr>
            <a:r>
              <a:t>Ishikawa (Fishbone) 4M Category</a:t>
            </a:r>
          </a:p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🐟 MAN (SDM &amp; Pengetahuan)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   Kurangnya pemahaman developer terkait Thread Safety &amp; Race Condition pada arsitektur web concurrently-driven.</a:t>
            </a:r>
          </a:p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🐟 MACHINE (Infrastruktur / Runtime)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   Runtime Python multi-threading melakukan preemptive thread switching saat operasi I/O atau sleep.</a:t>
            </a:r>
          </a:p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🐟 METHOD (Prosedur &amp; Pengujian)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   Pengujian hanya berfokus pada single-threaded unit test. Tidak ada checklist Concurrency Code Review.</a:t>
            </a:r>
          </a:p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🐟 MATERIAL (Spesifikasi &amp; Desain)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   Spesifikasi SRS tidak mendefinisikan batasan load transaksi bersamaan pada event Flash Sale.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563EB"/>
                </a:solidFill>
                <a:latin typeface="Segoe UI"/>
              </a:defRPr>
            </a:pPr>
            <a:r>
              <a:t>SOLUSI &amp; VERIFIKASI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Perbaikan Defect 1: Thread-Safe Mutex Lock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64748B"/>
                </a:solidFill>
                <a:latin typeface="Segoe UI"/>
              </a:defRPr>
            </a:pPr>
            <a:r>
              <a:t>07 / 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512064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  <a:latin typeface="Segoe UI"/>
              </a:defRPr>
            </a:pPr>
            <a:r>
              <a:t>Implementasi Kode Perbaikan (Fixed)</a:t>
            </a:r>
          </a:p>
          <a:p>
            <a:pPr>
              <a:spcAft>
                <a:spcPts val="1000"/>
              </a:spcAft>
              <a:defRPr sz="1000">
                <a:solidFill>
                  <a:srgbClr val="10B981"/>
                </a:solidFill>
                <a:latin typeface="Consolas"/>
              </a:defRPr>
            </a:pPr>
            <a:r>
              <a:t>class FixedInventoryManager:</a:t>
            </a:r>
            <a:br/>
            <a:r>
              <a:t>    def __init__(self):</a:t>
            </a:r>
            <a:br/>
            <a:r>
              <a:t>        self._products = {}</a:t>
            </a:r>
            <a:br/>
            <a:r>
              <a:t>        # KUNCI MUTEX REENTRANT</a:t>
            </a:r>
            <a:br/>
            <a:r>
              <a:t>        self._lock = threading.RLock()</a:t>
            </a:r>
            <a:br/>
            <a:br/>
            <a:r>
              <a:t>    def deduct_stock(self, sku: str, quantity: int):</a:t>
            </a:r>
            <a:br/>
            <a:r>
              <a:t>        with self._lock:  # Critical Section Terkunci</a:t>
            </a:r>
            <a:br/>
            <a:r>
              <a:t>            if self._products[sku].stock &gt;= quantity:</a:t>
            </a:r>
            <a:br/>
            <a:r>
              <a:t>                time.sleep(0.005)</a:t>
            </a:r>
            <a:br/>
            <a:r>
              <a:t>                self._products[sku].stock -= quantity</a:t>
            </a:r>
            <a:br/>
            <a:r>
              <a:t>                return True</a:t>
            </a:r>
            <a:br/>
            <a:r>
              <a:t>            return False</a:t>
            </a:r>
          </a:p>
          <a:p>
            <a:pPr>
              <a:defRPr sz="1050">
                <a:solidFill>
                  <a:srgbClr val="0F172A"/>
                </a:solidFill>
                <a:latin typeface="Segoe UI"/>
              </a:defRPr>
            </a:pPr>
            <a:r>
              <a:t>💡 Prinsip Solusi:</a:t>
            </a:r>
            <a:br/>
            <a:r>
              <a:t>Blok 'with self._lock' memastikan operasi pengecekan dan pengurangan stok bersifat ATOMIK. Hanya 1 thread yang diizinkan mengakses data stok dalam satu waktu.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645920"/>
            <a:ext cx="475488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75120" y="1828800"/>
            <a:ext cx="438912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563EB"/>
                </a:solidFill>
                <a:latin typeface="Segoe UI"/>
              </a:defRPr>
            </a:pPr>
            <a:r>
              <a:t>Hasil Verifikasi Otomatis (test_faults_fixed.py)</a:t>
            </a:r>
          </a:p>
          <a:p>
            <a:pPr>
              <a:defRPr sz="1200" b="1">
                <a:latin typeface="Segoe UI"/>
              </a:defRPr>
            </a:pPr>
            <a:r>
              <a:t>Hasil Eksekusi Unit Test Verifikasi:</a:t>
            </a:r>
            <a:br/>
            <a:endParaRPr/>
          </a:p>
          <a:p>
            <a:pPr>
              <a:spcAft>
                <a:spcPts val="600"/>
              </a:spcAft>
              <a:defRPr sz="1100" b="0">
                <a:solidFill>
                  <a:srgbClr val="0F172A"/>
                </a:solidFill>
                <a:latin typeface="Segoe UI"/>
              </a:defRPr>
            </a:pPr>
            <a:r>
              <a:t>• Stok Awal Fisik: 1 Unit</a:t>
            </a:r>
          </a:p>
          <a:p>
            <a:pPr>
              <a:spcAft>
                <a:spcPts val="600"/>
              </a:spcAft>
              <a:defRPr sz="1100" b="0">
                <a:solidFill>
                  <a:srgbClr val="0F172A"/>
                </a:solidFill>
                <a:latin typeface="Segoe UI"/>
              </a:defRPr>
            </a:pPr>
            <a:r>
              <a:t>• Permintaan Masuk: 10 Thread Paralel</a:t>
            </a:r>
          </a:p>
          <a:p>
            <a:pPr>
              <a:spcAft>
                <a:spcPts val="600"/>
              </a:spcAft>
              <a:defRPr sz="1100" b="0">
                <a:solidFill>
                  <a:srgbClr val="0F172A"/>
                </a:solidFill>
                <a:latin typeface="Segoe UI"/>
              </a:defRPr>
            </a:pPr>
            <a:r>
              <a:t>• Transaksi Sukses: 1 Transaksi (100% Sesuai)</a:t>
            </a:r>
          </a:p>
          <a:p>
            <a:pPr>
              <a:spcAft>
                <a:spcPts val="600"/>
              </a:spcAft>
              <a:defRPr sz="1100" b="0">
                <a:solidFill>
                  <a:srgbClr val="0F172A"/>
                </a:solidFill>
                <a:latin typeface="Segoe UI"/>
              </a:defRPr>
            </a:pPr>
            <a:r>
              <a:t>• Transaksi Ditolak: 9 Transaksi (Aman ditolak)</a:t>
            </a:r>
          </a:p>
          <a:p>
            <a:pPr>
              <a:spcAft>
                <a:spcPts val="600"/>
              </a:spcAft>
              <a:defRPr sz="1100" b="1">
                <a:solidFill>
                  <a:srgbClr val="10B981"/>
                </a:solidFill>
                <a:latin typeface="Segoe UI"/>
              </a:defRPr>
            </a:pPr>
            <a:r>
              <a:t>• Stok Akhir Gudang: 0 Unit (Tidak Pernah Minus!)</a:t>
            </a:r>
          </a:p>
          <a:p>
            <a:pPr>
              <a:spcAft>
                <a:spcPts val="600"/>
              </a:spcAft>
              <a:defRPr sz="1100" b="1">
                <a:solidFill>
                  <a:srgbClr val="10B981"/>
                </a:solidFill>
                <a:latin typeface="Segoe UI"/>
              </a:defRPr>
            </a:pPr>
            <a:r>
              <a:t>• Status Pengujian: PASSED / OK (Zero Overselling)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563EB"/>
                </a:solidFill>
                <a:latin typeface="Segoe UI"/>
              </a:defRPr>
            </a:pPr>
            <a:r>
              <a:t>STUDI KASUS DEFECT 2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Fault 2: Float Precision Leak &amp; Unbounded Discount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64748B"/>
                </a:solidFill>
                <a:latin typeface="Segoe UI"/>
              </a:defRPr>
            </a:pPr>
            <a:r>
              <a:t>08 / 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DC2626"/>
                </a:solidFill>
                <a:latin typeface="Segoe UI"/>
              </a:defRPr>
            </a:pPr>
            <a:r>
              <a:t>Gejala &amp; Bukti Pengujian Empiris</a:t>
            </a:r>
          </a:p>
          <a:p>
            <a:pPr>
              <a:spcAft>
                <a:spcPts val="600"/>
              </a:spcAft>
              <a:defRPr sz="1200" b="1">
                <a:latin typeface="Segoe UI"/>
              </a:defRPr>
            </a:pPr>
            <a:r>
              <a:t>Skenario Kasus Nyata:</a:t>
            </a:r>
          </a:p>
          <a:p>
            <a:pPr>
              <a:spcAft>
                <a:spcPts val="800"/>
              </a:spcAft>
              <a:defRPr sz="1100">
                <a:latin typeface="Segoe UI"/>
              </a:defRPr>
            </a:pPr>
            <a:r>
              <a:t>• Kasus A: Pecahan Moneter (3 x Rp 0.1)</a:t>
            </a:r>
            <a:br/>
            <a:r>
              <a:t>  Hasil float: Rp 0.30000000000000004</a:t>
            </a:r>
            <a:br/>
            <a:r>
              <a:t>  Dampak: Residu pembulatan merusak laporan keuangan audit.</a:t>
            </a:r>
          </a:p>
          <a:p>
            <a:pPr>
              <a:spcAft>
                <a:spcPts val="800"/>
              </a:spcAft>
              <a:defRPr sz="1100">
                <a:latin typeface="Segoe UI"/>
              </a:defRPr>
            </a:pPr>
            <a:r>
              <a:t>• Kasus B: Promo Tumpuk Tanpa Batas</a:t>
            </a:r>
            <a:br/>
            <a:r>
              <a:t>  Harga Buku: Rp 100.000</a:t>
            </a:r>
            <a:br/>
            <a:r>
              <a:t>  Diskon Kupon 50%: Rp 50.000</a:t>
            </a:r>
            <a:br/>
            <a:r>
              <a:t>  Voucher Tambahan: Rp 70.000</a:t>
            </a:r>
            <a:br/>
            <a:r>
              <a:t>  Total Diskon: Rp 120.000 (Melebihi Subtotal!)</a:t>
            </a:r>
            <a:br/>
            <a:r>
              <a:t>  Dasar Pajak: Rp -20.000</a:t>
            </a:r>
            <a:br/>
            <a:r>
              <a:t>  Pajak (PPN 11%): Rp -2.200</a:t>
            </a:r>
            <a:br/>
            <a:r>
              <a:t>  TOTAL TAGIHAN: -Rp 22.200 (NEGATIF!)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64592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475488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F172A"/>
                </a:solidFill>
                <a:latin typeface="Segoe UI"/>
              </a:defRPr>
            </a:pPr>
            <a:r>
              <a:t>Analisis Cacat Kode (Source Code Flaw)</a:t>
            </a:r>
          </a:p>
          <a:p>
            <a:pPr>
              <a:spcAft>
                <a:spcPts val="800"/>
              </a:spcAft>
              <a:defRPr sz="1100" b="1">
                <a:latin typeface="Consolas"/>
              </a:defRPr>
            </a:pPr>
            <a:r>
              <a:t>File: src/shop/pricing.py (VulnerablePricingEngine)</a:t>
            </a:r>
          </a:p>
          <a:p>
            <a:pPr>
              <a:spcAft>
                <a:spcPts val="1000"/>
              </a:spcAft>
              <a:defRPr sz="1000">
                <a:solidFill>
                  <a:srgbClr val="DC2626"/>
                </a:solidFill>
                <a:latin typeface="Consolas"/>
              </a:defRPr>
            </a:pPr>
            <a:r>
              <a:t>def calculate_totals(self, items, percentage_discount, fixed_discount):</a:t>
            </a:r>
            <a:br/>
            <a:r>
              <a:t>    subtotal = sum(i.quantity * i.unit_price for i in items)</a:t>
            </a:r>
            <a:br/>
            <a:r>
              <a:t>    # Float inexactness</a:t>
            </a:r>
            <a:br/>
            <a:r>
              <a:t>    discount_pct = subtotal * (percentage_discount / 100.0)</a:t>
            </a:r>
            <a:br/>
            <a:r>
              <a:t>    # Akumulasi tanpa batas atas (No Ceiling Cap)</a:t>
            </a:r>
            <a:br/>
            <a:r>
              <a:t>    total_discount = discount_pct + fixed_discount</a:t>
            </a:r>
            <a:br/>
            <a:r>
              <a:t>    taxable_amount = subtotal - total_discount # BISA MINUS</a:t>
            </a:r>
            <a:br/>
            <a:r>
              <a:t>    tax = taxable_amount * self.tax_rate</a:t>
            </a:r>
            <a:br/>
            <a:r>
              <a:t>    return {'total': taxable_amount + tax}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🔴 Titik Lemah:</a:t>
            </a:r>
            <a:br/>
            <a:r>
              <a:t>1. Tipe data 'float' IEEE 754 tidak tepat untuk kalkulasi moneter.</a:t>
            </a:r>
            <a:br/>
            <a:r>
              <a:t>2. Tidak ada boundary check bahwa total_discount tidak boleh melebihi subtotal, dan total tagihan tidak boleh &lt; 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563EB"/>
                </a:solidFill>
                <a:latin typeface="Segoe UI"/>
              </a:defRPr>
            </a:pPr>
            <a:r>
              <a:t>ROOT CAUSE ANALYSIS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RCA Defect 2: 5-Whys &amp; Fishbone 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64748B"/>
                </a:solidFill>
                <a:latin typeface="Segoe UI"/>
              </a:defRPr>
            </a:pPr>
            <a:r>
              <a:t>09 / 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563EB"/>
                </a:solidFill>
                <a:latin typeface="Segoe UI"/>
              </a:defRPr>
            </a:pPr>
            <a:r>
              <a:t>5-Whys Analysis (Defect 2)</a:t>
            </a:r>
          </a:p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• Why 1: Mengapa total invoice bernilai negatif (-Rp 22.200)?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   👉 Karena nilai potongan diskon lebih besar dari harga pokok barang.</a:t>
            </a:r>
          </a:p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• Why 2: Mengapa diskon bisa lebih besar dari subtotal?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   👉 Sistem menjumlahkan voucher persentase dan nominal tanpa batasan.</a:t>
            </a:r>
          </a:p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• Why 3: Mengapa tidak dibatasi batas maksimal diskon?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   👉 Developer menerapkan formula matematika langsung tanpa aturan bisnis 'cap'.</a:t>
            </a:r>
          </a:p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• Why 4: Mengapa ada angka desimal biner aneh (0.3000...4)?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   👉 Menggunakan tipe primitif float bawaan CPU daripada representasi desimal moneter.</a:t>
            </a:r>
          </a:p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• Why 5: AKAR MASALAH (Root Cause):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   👉 Ketiadaan Value Object 'Money' berbasis Decimal dan tidak dilakukannya Boundary Value Analysis (BVA) pada skenario diskon.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64592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475488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563EB"/>
                </a:solidFill>
                <a:latin typeface="Segoe UI"/>
              </a:defRPr>
            </a:pPr>
            <a:r>
              <a:t>Ishikawa (Fishbone) 4M Category</a:t>
            </a:r>
          </a:p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🐟 MAN (SDM &amp; Pengetahuan)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   Developer belum memahami keterbatasan representasi biner IEEE 754 float untuk perhitungan akuntansi.</a:t>
            </a:r>
          </a:p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🐟 MACHINE (Hardware &amp; Floating Point)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   ALU komputer merepresentasikan bilangan pecahan dalam basis 2 biner, bukan basis 10 desimal.</a:t>
            </a:r>
          </a:p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🐟 METHOD (Pengujian &amp; Verifikasi)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   Unit testing hanya menguji angka bulat sederhana (happy path); tidak menguji nilai batas ekstrim (BVA).</a:t>
            </a:r>
          </a:p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🐟 MATERIAL (Aturan Bisnis &amp; Schema)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   Spesifikasi promosi dari tim marketing tidak mendefinisikan aturan kombinasi voucher (stackable rule).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563EB"/>
                </a:solidFill>
                <a:latin typeface="Segoe UI"/>
              </a:defRPr>
            </a:pPr>
            <a:r>
              <a:t>SOLUSI &amp; VERIFIKASI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Perbaikan Defect 2: Decimal Moneter &amp; Boundary 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64748B"/>
                </a:solidFill>
                <a:latin typeface="Segoe UI"/>
              </a:defRPr>
            </a:pPr>
            <a:r>
              <a:t>10 / 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512064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  <a:latin typeface="Segoe UI"/>
              </a:defRPr>
            </a:pPr>
            <a:r>
              <a:t>Implementasi Kode Perbaikan (Fixed)</a:t>
            </a:r>
          </a:p>
          <a:p>
            <a:pPr>
              <a:spcAft>
                <a:spcPts val="800"/>
              </a:spcAft>
              <a:defRPr sz="950">
                <a:solidFill>
                  <a:srgbClr val="10B981"/>
                </a:solidFill>
                <a:latin typeface="Consolas"/>
              </a:defRPr>
            </a:pPr>
            <a:r>
              <a:t>from decimal import Decimal, ROUND_HALF_UP</a:t>
            </a:r>
            <a:br/>
            <a:br/>
            <a:r>
              <a:t>class FixedPricingEngine:</a:t>
            </a:r>
            <a:br/>
            <a:r>
              <a:t>    def calculate_totals(self, items, pct_disc, fixed_disc):</a:t>
            </a:r>
            <a:br/>
            <a:r>
              <a:t>        subtotal = sum(Decimal(str(i.qty))*Decimal(str(i.price)) ...)</a:t>
            </a:r>
            <a:br/>
            <a:r>
              <a:t>        safe_pct = max(0.0, min(100.0, pct_disc))</a:t>
            </a:r>
            <a:br/>
            <a:r>
              <a:t>        disc_pct = subtotal * (Decimal(str(safe_pct)) / Decimal('100'))</a:t>
            </a:r>
            <a:br/>
            <a:r>
              <a:t>        disc_fixed = max(Decimal('0'), Decimal(str(fixed_disc)))</a:t>
            </a:r>
            <a:br/>
            <a:r>
              <a:t>        # BOUNDARY CEILING CAP (Diskon maks = subtotal)</a:t>
            </a:r>
            <a:br/>
            <a:r>
              <a:t>        effective_discount = min(disc_pct + disc_fixed, subtotal)</a:t>
            </a:r>
            <a:br/>
            <a:r>
              <a:t>        taxable = max(Decimal('0'), subtotal - effective_discount)</a:t>
            </a:r>
            <a:br/>
            <a:r>
              <a:t>        tax = (taxable * self.tax_rate).quantize(Decimal('0.01'))</a:t>
            </a:r>
            <a:br/>
            <a:r>
              <a:t>        total = (taxable + tax).quantize(Decimal('0.01'))</a:t>
            </a:r>
            <a:br/>
            <a:r>
              <a:t>        return {'subtotal': subtotal, 'discount': effective_discount, 'total': total}</a:t>
            </a:r>
          </a:p>
          <a:p>
            <a:pPr>
              <a:defRPr sz="1050">
                <a:solidFill>
                  <a:srgbClr val="0F172A"/>
                </a:solidFill>
                <a:latin typeface="Segoe UI"/>
              </a:defRPr>
            </a:pPr>
            <a:r>
              <a:t>💡 Prinsip Solusi:</a:t>
            </a:r>
            <a:br/>
            <a:r>
              <a:t>1. Menggunakan Decimal untuk presisi matematis eksak.</a:t>
            </a:r>
            <a:br/>
            <a:r>
              <a:t>2. Fungsi min() menjamin diskon tidak pernah melebihi harga belanja.</a:t>
            </a:r>
            <a:br/>
            <a:r>
              <a:t>3. Nilai total diproteksi minimal Rp 0.00.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645920"/>
            <a:ext cx="475488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75120" y="1828800"/>
            <a:ext cx="438912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563EB"/>
                </a:solidFill>
                <a:latin typeface="Segoe UI"/>
              </a:defRPr>
            </a:pPr>
            <a:r>
              <a:t>Hasil Verifikasi Otomatis (test_faults_fixed.py)</a:t>
            </a:r>
          </a:p>
          <a:p>
            <a:pPr>
              <a:defRPr sz="1200" b="1">
                <a:latin typeface="Segoe UI"/>
              </a:defRPr>
            </a:pPr>
            <a:r>
              <a:t>Hasil Eksekusi Unit Test Verifikasi:</a:t>
            </a:r>
            <a:br/>
            <a:endParaRPr/>
          </a:p>
          <a:p>
            <a:pPr>
              <a:spcAft>
                <a:spcPts val="500"/>
              </a:spcAft>
              <a:defRPr sz="1100" b="0">
                <a:solidFill>
                  <a:srgbClr val="0F172A"/>
                </a:solidFill>
                <a:latin typeface="Segoe UI"/>
              </a:defRPr>
            </a:pPr>
            <a:r>
              <a:t>• Subtotal Belanja: Rp 100,000.00</a:t>
            </a:r>
          </a:p>
          <a:p>
            <a:pPr>
              <a:spcAft>
                <a:spcPts val="500"/>
              </a:spcAft>
              <a:defRPr sz="1100" b="0">
                <a:solidFill>
                  <a:srgbClr val="0F172A"/>
                </a:solidFill>
                <a:latin typeface="Segoe UI"/>
              </a:defRPr>
            </a:pPr>
            <a:r>
              <a:t>• Diskon Terpasang: 50% + Rp 70,000 (Total Rp 120,000)</a:t>
            </a:r>
          </a:p>
          <a:p>
            <a:pPr>
              <a:spcAft>
                <a:spcPts val="500"/>
              </a:spcAft>
              <a:defRPr sz="1100" b="0">
                <a:solidFill>
                  <a:srgbClr val="0F172A"/>
                </a:solidFill>
                <a:latin typeface="Segoe UI"/>
              </a:defRPr>
            </a:pPr>
            <a:r>
              <a:t>• Diskon Efektif: Rp 100,000.00 (Dibatasi setara subtotal)</a:t>
            </a:r>
          </a:p>
          <a:p>
            <a:pPr>
              <a:spcAft>
                <a:spcPts val="500"/>
              </a:spcAft>
              <a:defRPr sz="1100" b="0">
                <a:solidFill>
                  <a:srgbClr val="0F172A"/>
                </a:solidFill>
                <a:latin typeface="Segoe UI"/>
              </a:defRPr>
            </a:pPr>
            <a:r>
              <a:t>• Dasar Pajak &amp; PPN: Rp 0.00 (Tidak pernah minus!)</a:t>
            </a:r>
          </a:p>
          <a:p>
            <a:pPr>
              <a:spcAft>
                <a:spcPts val="500"/>
              </a:spcAft>
              <a:defRPr sz="1100" b="1">
                <a:solidFill>
                  <a:srgbClr val="10B981"/>
                </a:solidFill>
                <a:latin typeface="Segoe UI"/>
              </a:defRPr>
            </a:pPr>
            <a:r>
              <a:t>• TOTAL TAGIHAN AKHIR: Rp 0.00 (Aman, zero leakage)</a:t>
            </a:r>
          </a:p>
          <a:p>
            <a:pPr>
              <a:spcAft>
                <a:spcPts val="500"/>
              </a:spcAft>
              <a:defRPr sz="1100" b="0">
                <a:solidFill>
                  <a:srgbClr val="0F172A"/>
                </a:solidFill>
                <a:latin typeface="Segoe UI"/>
              </a:defRPr>
            </a:pPr>
            <a:r>
              <a:t>• Uji Presisi 3 * 0.1: Tepat 0.30 (Tanpa biner artefak)</a:t>
            </a:r>
          </a:p>
          <a:p>
            <a:pPr>
              <a:spcAft>
                <a:spcPts val="500"/>
              </a:spcAft>
              <a:defRPr sz="1100" b="1">
                <a:solidFill>
                  <a:srgbClr val="10B981"/>
                </a:solidFill>
                <a:latin typeface="Segoe UI"/>
              </a:defRPr>
            </a:pPr>
            <a:r>
              <a:t>• Status Pengujian: PASSED / OK (Presisi Terjamin)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563EB"/>
                </a:solidFill>
                <a:latin typeface="Segoe UI"/>
              </a:defRPr>
            </a:pPr>
            <a:r>
              <a:t>STUDI KASUS DEFECT 3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Fault 3: Phantom Stock Deduction (No Rollback)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64748B"/>
                </a:solidFill>
                <a:latin typeface="Segoe UI"/>
              </a:defRPr>
            </a:pPr>
            <a:r>
              <a:t>11 / 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DC2626"/>
                </a:solidFill>
                <a:latin typeface="Segoe UI"/>
              </a:defRPr>
            </a:pPr>
            <a:r>
              <a:t>Gejala &amp; Bukti Pengujian Empiris</a:t>
            </a:r>
          </a:p>
          <a:p>
            <a:pPr>
              <a:spcAft>
                <a:spcPts val="600"/>
              </a:spcAft>
              <a:defRPr sz="1200" b="1">
                <a:latin typeface="Segoe UI"/>
              </a:defRPr>
            </a:pPr>
            <a:r>
              <a:t>Skenario Kasus Nyata: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t>• Stok awal produk 'Smartphone Flagship': 5 unit.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t>• Pelanggan memesan 2 unit.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t>• Saat proses charge ke payment gateway bank, terjadi Network Timeout (HTTP 504).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t>• Sistem menangkap exception dan menandai status order: FAILED.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t>• Pelanggan tidak dikenakan biaya sama sekali.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t>• ANOMALI PARAH:</a:t>
            </a:r>
            <a:br/>
            <a:r>
              <a:t>Stok di gudang berkurang menjadi 3 unit dan TIDAK DIKEMBALIKAN!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t>• Dampak: 2 Unit barang hilang secara misterius (Phantom Deduction).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64592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475488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F172A"/>
                </a:solidFill>
                <a:latin typeface="Segoe UI"/>
              </a:defRPr>
            </a:pPr>
            <a:r>
              <a:t>Analisis Cacat Kode (Source Code Flaw)</a:t>
            </a:r>
          </a:p>
          <a:p>
            <a:pPr>
              <a:spcAft>
                <a:spcPts val="800"/>
              </a:spcAft>
              <a:defRPr sz="1100" b="1">
                <a:latin typeface="Consolas"/>
              </a:defRPr>
            </a:pPr>
            <a:r>
              <a:t>File: src/shop/order_service.py (VulnerableOrderService)</a:t>
            </a:r>
          </a:p>
          <a:p>
            <a:pPr>
              <a:spcAft>
                <a:spcPts val="1000"/>
              </a:spcAft>
              <a:defRPr sz="950">
                <a:solidFill>
                  <a:srgbClr val="DC2626"/>
                </a:solidFill>
                <a:latin typeface="Consolas"/>
              </a:defRPr>
            </a:pPr>
            <a:r>
              <a:t>def checkout(self, customer, items, ...):</a:t>
            </a:r>
            <a:br/>
            <a:r>
              <a:t>    # 1. Deduksi stok dilakukan di awal</a:t>
            </a:r>
            <a:br/>
            <a:r>
              <a:t>    for item in items:</a:t>
            </a:r>
            <a:br/>
            <a:r>
              <a:t>        self.inventory.deduct_stock(item.sku, item.quantity)</a:t>
            </a:r>
            <a:br/>
            <a:br/>
            <a:r>
              <a:t>    try:</a:t>
            </a:r>
            <a:br/>
            <a:r>
              <a:t>        # 2. Pembayaran ke gateway pihak ketiga</a:t>
            </a:r>
            <a:br/>
            <a:r>
              <a:t>        self.gateway.process_charge(...)</a:t>
            </a:r>
            <a:br/>
            <a:r>
              <a:t>        return order</a:t>
            </a:r>
            <a:br/>
            <a:r>
              <a:t>    except PaymentError as err:</a:t>
            </a:r>
            <a:br/>
            <a:r>
              <a:t>        # 3. CACAT: Error ditangkap tapi LUPA ROLLBACK STOK!</a:t>
            </a:r>
            <a:br/>
            <a:r>
              <a:t>        order.status = OrderStatus.FAILED</a:t>
            </a:r>
            <a:br/>
            <a:r>
              <a:t>        return order  # Stok gudang dibiarkan hilang!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🔴 Titik Lemah:</a:t>
            </a:r>
            <a:br/>
            <a:r>
              <a:t>Ketiadaan prinsip atomisitas transaksi (All-or-Nothing). Alur multi-langkah tidak memiliki blok kompensasi pemulihan state saat terjadi kegagalan parsial.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563EB"/>
                </a:solidFill>
                <a:latin typeface="Segoe UI"/>
              </a:defRPr>
            </a:pPr>
            <a:r>
              <a:t>ROOT CAUSE ANALYSIS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RCA Defect 3: 5-Whys &amp; Fishbone 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64748B"/>
                </a:solidFill>
                <a:latin typeface="Segoe UI"/>
              </a:defRPr>
            </a:pPr>
            <a:r>
              <a:t>12 / 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563EB"/>
                </a:solidFill>
                <a:latin typeface="Segoe UI"/>
              </a:defRPr>
            </a:pPr>
            <a:r>
              <a:t>5-Whys Analysis (Defect 3)</a:t>
            </a:r>
          </a:p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• Why 1: Mengapa stok gudang berkurang padahal pesanan batal?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   👉 Karena pemotongan stok dilakukan sebelum otorisasi gateway berhasil.</a:t>
            </a:r>
          </a:p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• Why 2: Mengapa stok tidak dikembalikan saat payment error?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   👉 Blok catch exception hanya mencatat pesan error tanpa memanggil restore_stock.</a:t>
            </a:r>
          </a:p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• Why 3: Mengapa tidak ada mekanisme kompensasi rollback?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   👉 Layanan checkout tidak dirancang mengikuti pola transaksi atomik.</a:t>
            </a:r>
          </a:p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• Why 4: Mengapa masalah ini tidak ditemukan saat fase testing?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   👉 Pengujian tim QA hanya menguji skenario sukses (Happy Path testing).</a:t>
            </a:r>
          </a:p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• Why 5: AKAR MASALAH (Root Cause):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   👉 Ketiadaan pola Compensating Transaction (Saga Pattern) dan tidak diterapkannya Negative &amp; Fault-Injection Testing.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64592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475488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563EB"/>
                </a:solidFill>
                <a:latin typeface="Segoe UI"/>
              </a:defRPr>
            </a:pPr>
            <a:r>
              <a:t>Ishikawa (Fishbone) 4M Category</a:t>
            </a:r>
          </a:p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🐟 MAN (SDM &amp; Pola Pikir)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   Developer berfokus pada alur normal dan mengabaikan penanganan kondisi abnormal / parsial error.</a:t>
            </a:r>
          </a:p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🐟 MACHINE (Jaringan &amp; Provider Eksternal)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   Ketergantungan pada 3rd-party Payment Gateway yang rentan fluktuasi koneksi dan timeout.</a:t>
            </a:r>
          </a:p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🐟 METHOD (Pengujian &amp; Error Handling)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   Ketiadaan pengujian Chaos Engineering / Fault-Injection untuk mensimulasikan kegagalan jaringan.</a:t>
            </a:r>
          </a:p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🐟 MATERIAL (Arsitektur Desain)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   Arsitektur tidak memiliki Distributed Transaction Coordinator atau job rekonsiliasi stok otomatis.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563EB"/>
                </a:solidFill>
                <a:latin typeface="Segoe UI"/>
              </a:defRPr>
            </a:pPr>
            <a:r>
              <a:t>SOLUSI &amp; VERIFIKASI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Perbaikan Defect 3: Compensating Transaction Rollback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64748B"/>
                </a:solidFill>
                <a:latin typeface="Segoe UI"/>
              </a:defRPr>
            </a:pPr>
            <a:r>
              <a:t>13 / 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512064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  <a:latin typeface="Segoe UI"/>
              </a:defRPr>
            </a:pPr>
            <a:r>
              <a:t>Implementasi Kode Perbaikan (Fixed)</a:t>
            </a:r>
          </a:p>
          <a:p>
            <a:pPr>
              <a:spcAft>
                <a:spcPts val="800"/>
              </a:spcAft>
              <a:defRPr sz="900">
                <a:solidFill>
                  <a:srgbClr val="10B981"/>
                </a:solidFill>
                <a:latin typeface="Consolas"/>
              </a:defRPr>
            </a:pPr>
            <a:r>
              <a:t>class FixedOrderService:</a:t>
            </a:r>
            <a:br/>
            <a:r>
              <a:t>    def checkout(self, customer, items, ...):</a:t>
            </a:r>
            <a:br/>
            <a:r>
              <a:t>        allocated_items = []</a:t>
            </a:r>
            <a:br/>
            <a:r>
              <a:t>        try:</a:t>
            </a:r>
            <a:br/>
            <a:r>
              <a:t>            # 1. Alokasi stok dengan pelacakan</a:t>
            </a:r>
            <a:br/>
            <a:r>
              <a:t>            for item in items:</a:t>
            </a:r>
            <a:br/>
            <a:r>
              <a:t>                if not self.inventory.deduct_stock(item.sku, item.qty):</a:t>
            </a:r>
            <a:br/>
            <a:r>
              <a:t>                    self._rollback(allocated_items)</a:t>
            </a:r>
            <a:br/>
            <a:r>
              <a:t>                    return order_failed</a:t>
            </a:r>
            <a:br/>
            <a:r>
              <a:t>                allocated_items.append(item)</a:t>
            </a:r>
            <a:br/>
            <a:br/>
            <a:r>
              <a:t>            # 2. Proses pembayaran</a:t>
            </a:r>
            <a:br/>
            <a:r>
              <a:t>            self.gateway.process_charge(...)</a:t>
            </a:r>
            <a:br/>
            <a:r>
              <a:t>            return order_success</a:t>
            </a:r>
            <a:br/>
            <a:br/>
            <a:r>
              <a:t>        except Exception as err:</a:t>
            </a:r>
            <a:br/>
            <a:r>
              <a:t>            # 3. KOMPENSASI OTOMATIS SAAT TERJADI ERROR</a:t>
            </a:r>
            <a:br/>
            <a:r>
              <a:t>            self._rollback(allocated_items)</a:t>
            </a:r>
            <a:br/>
            <a:r>
              <a:t>            order.status = OrderStatus.FAILED</a:t>
            </a:r>
            <a:br/>
            <a:r>
              <a:t>            return order</a:t>
            </a:r>
          </a:p>
          <a:p>
            <a:pPr>
              <a:defRPr sz="1050">
                <a:solidFill>
                  <a:srgbClr val="0F172A"/>
                </a:solidFill>
                <a:latin typeface="Segoe UI"/>
              </a:defRPr>
            </a:pPr>
            <a:r>
              <a:t>💡 Prinsip Solusi:</a:t>
            </a:r>
            <a:br/>
            <a:r>
              <a:t>Pola Unit-of-Work / Saga Rollback. Setiap mutasi state yang telah dilakukan dicatat dan dijamin dipulihkan (*compensated*) secara otomatis jika langkah berikutnya mengalami kegagalan.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645920"/>
            <a:ext cx="475488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75120" y="1828800"/>
            <a:ext cx="438912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563EB"/>
                </a:solidFill>
                <a:latin typeface="Segoe UI"/>
              </a:defRPr>
            </a:pPr>
            <a:r>
              <a:t>Hasil Verifikasi Otomatis (test_faults_fixed.py)</a:t>
            </a:r>
          </a:p>
          <a:p>
            <a:pPr>
              <a:defRPr sz="1200" b="1">
                <a:latin typeface="Segoe UI"/>
              </a:defRPr>
            </a:pPr>
            <a:r>
              <a:t>Hasil Eksekusi Unit Test Verifikasi:</a:t>
            </a:r>
            <a:br/>
            <a:endParaRPr/>
          </a:p>
          <a:p>
            <a:pPr>
              <a:spcAft>
                <a:spcPts val="400"/>
              </a:spcAft>
              <a:defRPr sz="1100" b="0">
                <a:solidFill>
                  <a:srgbClr val="0F172A"/>
                </a:solidFill>
                <a:latin typeface="Segoe UI"/>
              </a:defRPr>
            </a:pPr>
            <a:r>
              <a:t>• Stok Awal Gudang: 5 Unit</a:t>
            </a:r>
          </a:p>
          <a:p>
            <a:pPr>
              <a:spcAft>
                <a:spcPts val="400"/>
              </a:spcAft>
              <a:defRPr sz="1100" b="0">
                <a:solidFill>
                  <a:srgbClr val="0F172A"/>
                </a:solidFill>
                <a:latin typeface="Segoe UI"/>
              </a:defRPr>
            </a:pPr>
            <a:r>
              <a:t>• Jumlah Pesanan: 2 Unit</a:t>
            </a:r>
          </a:p>
          <a:p>
            <a:pPr>
              <a:spcAft>
                <a:spcPts val="400"/>
              </a:spcAft>
              <a:defRPr sz="1100" b="0">
                <a:solidFill>
                  <a:srgbClr val="0F172A"/>
                </a:solidFill>
                <a:latin typeface="Segoe UI"/>
              </a:defRPr>
            </a:pPr>
            <a:r>
              <a:t>• Simulasi Gateway: HTTP 504 Gateway Timeout</a:t>
            </a:r>
          </a:p>
          <a:p>
            <a:pPr>
              <a:spcAft>
                <a:spcPts val="400"/>
              </a:spcAft>
              <a:defRPr sz="1100" b="1">
                <a:solidFill>
                  <a:srgbClr val="10B981"/>
                </a:solidFill>
                <a:latin typeface="Segoe UI"/>
              </a:defRPr>
            </a:pPr>
            <a:r>
              <a:t>• Status Pesanan: FAILED (Dibatalkan Aman)</a:t>
            </a:r>
          </a:p>
          <a:p>
            <a:pPr>
              <a:spcAft>
                <a:spcPts val="400"/>
              </a:spcAft>
              <a:defRPr sz="1100" b="0">
                <a:solidFill>
                  <a:srgbClr val="0F172A"/>
                </a:solidFill>
                <a:latin typeface="Segoe UI"/>
              </a:defRPr>
            </a:pPr>
            <a:r>
              <a:t>• Aksi Sistem: Compensating Rollback Dieksekusi</a:t>
            </a:r>
          </a:p>
          <a:p>
            <a:pPr>
              <a:spcAft>
                <a:spcPts val="400"/>
              </a:spcAft>
              <a:defRPr sz="1100" b="1">
                <a:solidFill>
                  <a:srgbClr val="10B981"/>
                </a:solidFill>
                <a:latin typeface="Segoe UI"/>
              </a:defRPr>
            </a:pPr>
            <a:r>
              <a:t>• Stok Pasca Rollback: 5 Unit (Kembali Utuh 100%!)</a:t>
            </a:r>
          </a:p>
          <a:p>
            <a:pPr>
              <a:spcAft>
                <a:spcPts val="400"/>
              </a:spcAft>
              <a:defRPr sz="1100" b="0">
                <a:solidFill>
                  <a:srgbClr val="0F172A"/>
                </a:solidFill>
                <a:latin typeface="Segoe UI"/>
              </a:defRPr>
            </a:pPr>
            <a:r>
              <a:t>• Phantom Deduction: 0 Unit (Tereliminasi Total)</a:t>
            </a:r>
          </a:p>
          <a:p>
            <a:pPr>
              <a:spcAft>
                <a:spcPts val="400"/>
              </a:spcAft>
              <a:defRPr sz="1100" b="1">
                <a:solidFill>
                  <a:srgbClr val="10B981"/>
                </a:solidFill>
                <a:latin typeface="Segoe UI"/>
              </a:defRPr>
            </a:pPr>
            <a:r>
              <a:t>• Status Pengujian: PASSED / OK (Data Integrity Terjamin)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563EB"/>
                </a:solidFill>
                <a:latin typeface="Segoe UI"/>
              </a:defRPr>
            </a:pPr>
            <a:r>
              <a:t>ACTION PLAN MANAJEMEN MUTU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Matriks Tindakan Korektif &amp; Preventif (CAPA)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64748B"/>
                </a:solidFill>
                <a:latin typeface="Segoe UI"/>
              </a:defRPr>
            </a:pPr>
            <a:r>
              <a:t>14 / 16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45920"/>
          <a:ext cx="1072865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220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Defect ID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Defect Description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Corrective Action (Langsung)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Preventive Action (Jangka Panjang)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DEF-01</a:t>
                      </a:r>
                      <a:br/>
                      <a:r>
                        <a:t>(Critical)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Concurrency Race Condition (Overselling)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Menerapkan threading.RLock pada modul inventory untuk melindungi operasi read-modify-write.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Menambahkan Concurrency Stress Testing (Locust/k6) ke CI/CD; menggunakan Pessimistic Locking di Database.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DEF-02</a:t>
                      </a:r>
                      <a:br/>
                      <a:r>
                        <a:t>(High)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Float Precision Leak &amp; Unbounded Discount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Refactoring ke decimal.Decimal dan membatasi total diskon dengan fungsi min(discount, subtotal).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Mewajibkan Boundary Value Analysis (BVA) pada spesifikasi promosi; membuat Value Object Money terpusat.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DEF-03</a:t>
                      </a:r>
                      <a:br/>
                      <a:r>
                        <a:t>(Critical)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Phantom Stock Deduction (No Rollback)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Menambahkan blok kompensasi try-except-rollback pada service alur pemesanan checkout.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Menerapkan arsitektur Saga Pattern untuk transaksi terdistribusi; menyusun cron job rekonsiliasi data stok.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563EB"/>
                </a:solidFill>
                <a:latin typeface="Segoe UI"/>
              </a:defRPr>
            </a:pPr>
            <a:r>
              <a:t>REKOMENDASI SOFTWARE QUALITY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Best Practices Pengujian &amp; Keandalan Sistem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64748B"/>
                </a:solidFill>
                <a:latin typeface="Segoe UI"/>
              </a:defRPr>
            </a:pPr>
            <a:r>
              <a:t>15 / 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563EB"/>
                </a:solidFill>
                <a:latin typeface="Segoe UI"/>
              </a:defRPr>
            </a:pPr>
            <a:r>
              <a:t>1. Pengujian Nilai Batas (Boundary Value Analysis)</a:t>
            </a:r>
          </a:p>
          <a:p>
            <a:pPr>
              <a:defRPr sz="1150">
                <a:solidFill>
                  <a:srgbClr val="0F172A"/>
                </a:solidFill>
                <a:latin typeface="Segoe UI"/>
              </a:defRPr>
            </a:pPr>
            <a:r>
              <a:t>Mayoritas defect bisnis (seperti diskon melebihi 100% atau tagihan negatif) terjadi di titik batas ekstrem. Pengujian harus mencakup nilai: 0, nilai batas atas promo, angka negatif, dan nilai pecahan terkecil.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645920"/>
            <a:ext cx="512064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475488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563EB"/>
                </a:solidFill>
                <a:latin typeface="Segoe UI"/>
              </a:defRPr>
            </a:pPr>
            <a:r>
              <a:t>2. Concurrency &amp; Multi-Thread Testing</a:t>
            </a:r>
          </a:p>
          <a:p>
            <a:pPr>
              <a:defRPr sz="1150">
                <a:solidFill>
                  <a:srgbClr val="0F172A"/>
                </a:solidFill>
                <a:latin typeface="Segoe UI"/>
              </a:defRPr>
            </a:pPr>
            <a:r>
              <a:t>Jangan mengandalkan pengujian single-threaded sederhana. Gunakan mekanisme Barrier Synchronization atau Thread Pool untuk mensimulasikan ribuan transaksi simultan pada resource terbatas.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512064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475488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563EB"/>
                </a:solidFill>
                <a:latin typeface="Segoe UI"/>
              </a:defRPr>
            </a:pPr>
            <a:r>
              <a:t>3. Chaos Engineering &amp; Fault-Injection</a:t>
            </a:r>
          </a:p>
          <a:p>
            <a:pPr>
              <a:defRPr sz="1150">
                <a:solidFill>
                  <a:srgbClr val="0F172A"/>
                </a:solidFill>
                <a:latin typeface="Segoe UI"/>
              </a:defRPr>
            </a:pPr>
            <a:r>
              <a:t>Uji ketahanan sistem terhadap skenario terburuk secara sengaja (koneksi payment putus di tengah jalan, database timeout, server restart). Pastikan sistem selalu kembali ke state konsisten.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3931920"/>
            <a:ext cx="512064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09360" y="4114800"/>
            <a:ext cx="475488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563EB"/>
                </a:solidFill>
                <a:latin typeface="Segoe UI"/>
              </a:defRPr>
            </a:pPr>
            <a:r>
              <a:t>4. Automated CI/CD Quality Gates</a:t>
            </a:r>
          </a:p>
          <a:p>
            <a:pPr>
              <a:defRPr sz="1150">
                <a:solidFill>
                  <a:srgbClr val="0F172A"/>
                </a:solidFill>
                <a:latin typeface="Segoe UI"/>
              </a:defRPr>
            </a:pPr>
            <a:r>
              <a:t>Terapkan pipeline pengujian otomatis sebelum kode dapat di-merge: linter tipe data statis (mypy), automated regression test, dan mutation testing untuk mengukur efektivitas test suite.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14400" y="1371600"/>
            <a:ext cx="137160" cy="4114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280160" y="1371600"/>
            <a:ext cx="9601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EA5E9"/>
                </a:solidFill>
                <a:latin typeface="Segoe UI"/>
              </a:defRPr>
            </a:pPr>
            <a:r>
              <a:t>KESIMPULAN &amp; LESSON LEARNED</a:t>
            </a:r>
          </a:p>
          <a:p>
            <a:pPr>
              <a:spcAft>
                <a:spcPts val="800"/>
              </a:spcAft>
              <a:defRPr sz="1300">
                <a:solidFill>
                  <a:srgbClr val="E2E8F0"/>
                </a:solidFill>
                <a:latin typeface="Segoe UI"/>
              </a:defRPr>
            </a:pPr>
            <a:r>
              <a:t>1. Kualitas perangkat lunak tidak hanya diukur dari kode yang bebas error sintaks, tetapi dari ketahanan logika terhadap konkurensi tinggi, integritas data moneter, dan penanganan kegagalan parsial.</a:t>
            </a:r>
          </a:p>
          <a:p>
            <a:pPr>
              <a:spcAft>
                <a:spcPts val="800"/>
              </a:spcAft>
              <a:defRPr sz="1300">
                <a:solidFill>
                  <a:srgbClr val="E2E8F0"/>
                </a:solidFill>
                <a:latin typeface="Segoe UI"/>
              </a:defRPr>
            </a:pPr>
            <a:r>
              <a:t>2. Metodologi Root Cause Analysis (5-Whys &amp; Fishbone Diagram) terbukti efektif menembus akar masalah terdalam dari sekadar symptom fisik hingga proses pengembangan &amp; arsitektur sistem.</a:t>
            </a:r>
          </a:p>
          <a:p>
            <a:pPr>
              <a:spcAft>
                <a:spcPts val="800"/>
              </a:spcAft>
              <a:defRPr sz="1300">
                <a:solidFill>
                  <a:srgbClr val="E2E8F0"/>
                </a:solidFill>
                <a:latin typeface="Segoe UI"/>
              </a:defRPr>
            </a:pPr>
            <a:r>
              <a:t>3. Melalui verifikasi automated testing, seluruh 3 defect berhasil diselesaikan 100% tanpa regresi.</a:t>
            </a:r>
          </a:p>
          <a:p>
            <a:br/>
            <a:r>
              <a:t>TERIMA KASIH — SESI TANYA JAWAB (Q &amp; A)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Zainul Mutawakkil (NIM: 23EO10003)  •  Mata Kuliah: Analisis dan Pengujian Sistem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3598</Words>
  <Application>Microsoft Office PowerPoint</Application>
  <PresentationFormat>Widescreen</PresentationFormat>
  <Paragraphs>252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zeekunn</cp:lastModifiedBy>
  <cp:revision>2</cp:revision>
  <dcterms:created xsi:type="dcterms:W3CDTF">2013-01-27T09:14:16Z</dcterms:created>
  <dcterms:modified xsi:type="dcterms:W3CDTF">2026-10-06T21:23:06Z</dcterms:modified>
  <cp:category/>
</cp:coreProperties>
</file>