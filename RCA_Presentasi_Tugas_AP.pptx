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TUGAS BESAR ANALISIS DAN PENGUJIAN SISTEM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ROOT CAUSE ANALYSIS (RCA)</a:t>
            </a:r>
            <a:br/>
            <a:r>
              <a:t>&amp; DEFECT IDENTIFICATION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Studi Kasus Penemuan 3 Defect Kritis, Analisis 5-Whys, Diagram Fishbone, serta Verifikasi Perbaikan pada Mini E-Commerce Order System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Disusun Oleh : Zainul Mutawakkil  |  NIM : 23EO10003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Mata Kuliah : Analisis dan Pengujian Sistem  •  Tahun Akademik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ARSITEKTUR PERANGKAT LUNAK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Gambaran Umum Mini E-Commerce Order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02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📦 Modul: Inventory Manager (inventory.py)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Mengelola ketersediaan stok fisik barang di gudang. Bertanggung jawab atas operasi cek stok dan pengurangan stok saat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📦 Modul: Pricing Engine (pricing.py)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Menghitung subtotal belanja, diskon bertingkat (persentase &amp; voucher nominal), serta tarif pajak pertambahan nilai (PPN 11%).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📦 Modul: Payment Gateway (payment.py)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Simulasi integrasi gateway pembayaran pihak ketiga (bank/fintech) dengan skenario timeout jaringan dan saldo tidak cukup.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📦 Modul: Order Service (order_service.py)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Orchestrator utama yang menghubungkan pemotongan stok, kalkulasi tagihan, dan pemanggilan payment 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515600" cy="822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🎯 Tujuan Mini Program: Menyediakan repositori modular realistis untuk mendemonstrasikan bagaimana celah desain kecil pada konkurensi, tipe data, dan alur transaksi dapat berkembang menjadi kegagalan sistemik berisiko tinggi.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LANDASAN TEORI &amp; KONSEP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Taksonomi Kegagalan Software &amp; Metodologi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Taksonomi Kegagalan (Standar IEEE 610.12)</a:t>
            </a: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• HUMAN MISTAKE (Kekeliruan Manusia)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Kekeliruan kognitif atau asumsi salah oleh programmer saat merancang/menulis kode.</a:t>
            </a:r>
          </a:p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• FAULT / DEFECT (Cacat pada Kode)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Cacat statis di dalam baris kode program (misal ketiadaan lock, penggunaan float).</a:t>
            </a: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• ERROR (Kondisi State Internal Korup)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Penyimpangan nilai internal di memori saat kode dieksekusi (stok bernilai -9, saldo minus).</a:t>
            </a:r>
          </a:p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• FAILURE (Kegagalan Eksternal)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Kegagalan fungsional yang teramati langsung oleh user atau sistem luar (oversell, komplain).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2. Metodologi Root Cause Analysis (RCA)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Metode 5-Whys (Sakichi Toyoda)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Teknik investigasi iteratif dengan menanyakan 'Mengapa' minimal 5 kali secara beruntun dari gejala luar hingga menembus akar masalah terdalam (organisasi, desain arsitektur, atau proses QA).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Ishikawa / Fishbone Diagram (Kaoru Ishikawa)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Diagram sebab-akibat untuk memetakan akar penyebab ke dalam 4 kategori komprehensif:</a:t>
            </a:r>
            <a:br/>
            <a:r>
              <a:t> - Man (Keahlian &amp; kelalaian manusia)</a:t>
            </a:r>
            <a:br/>
            <a:r>
              <a:t> - Machine (Infrastruktur, thread, hardware)</a:t>
            </a:r>
            <a:br/>
            <a:r>
              <a:t> - Method (Metodologi pengujian, code review)</a:t>
            </a:r>
            <a:br/>
            <a:r>
              <a:t> - Material (Spesifikasi, batasan bisnis).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Corrective &amp; Preventive Actions (CAPA)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  Output terpenting RCA: Solusi kuratif langsung (bug fix) dan solusi preventif jangka panjang (otomasi QA) agar insiden tidak terulang.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HASIL IDENTIFIKASI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Ringkasan 3 Defect/Fault Kritis yang Ditemukan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04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⚠️ FAULT 01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Concurrency Race Condition (Inventory Oversell)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Modul: inventory.py</a:t>
            </a:r>
            <a:br/>
            <a:r>
              <a:t>Kategori: Thread-Safety &amp; Concurrency</a:t>
            </a:r>
            <a:br/>
            <a:r>
              <a:t>Severity: CRITICAL / HIGH</a:t>
            </a:r>
          </a:p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💥 Gejala Kegagalan: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Stok fisik tersisa 1 unit diserbu 10 user konkuren. Seluruh 10 pesanan lolos dan stok menjadi -9 (minus).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Solusi Perbaikan: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Pencegahan overselling dengan Reentrant Mutex Lock (threading.RLock).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⚠️ FAULT 02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Float Precision Leak &amp; Unbounded Discount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Modul: pricing.py</a:t>
            </a:r>
            <a:br/>
            <a:r>
              <a:t>Kategori: Business Logic &amp; Precision</a:t>
            </a:r>
            <a:br/>
            <a:r>
              <a:t>Severity: HIGH (Financial Loss)</a:t>
            </a:r>
          </a:p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💥 Gejala Kegagalan: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Penggunaan float menimbulkan biner artefak (3*0.1=0.30000000000000004) dan voucher tumpuk membuat tagihan -Rp 22.200.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Solusi Perbaikan: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Migrasi ke decimal.Decimal dan validasi batas atas min(discount, subtotal).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⚠️ FAULT 03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Phantom Stock Deduction (No Transaction Rollback)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Modul: order_service.py</a:t>
            </a:r>
            <a:br/>
            <a:r>
              <a:t>Kategori: Data Integrity &amp; Transactions</a:t>
            </a:r>
            <a:br/>
            <a:r>
              <a:t>Severity: CRITICAL / DATA LOSS</a:t>
            </a:r>
          </a:p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💥 Gejala Kegagalan: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Payment gateway mengalami network timeout. Pesanan gagal tetapi stok gudang hilang permanen tanpa kembali.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Solusi Perbaikan: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Penerapan Compensating Transaction (try-except-rollback) untuk menjamin atomisitas.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STUDI KASUS DEFECT 1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Fault 1: Concurrency Race Condition pada Stok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Gejala &amp; Bukti Pengujian Empiris</a:t>
            </a:r>
          </a:p>
          <a:p>
            <a:pPr>
              <a:spcAft>
                <a:spcPts val="400"/>
              </a:spcAft>
              <a:defRPr sz="1200" b="1">
                <a:latin typeface="Segoe UI"/>
              </a:defRPr>
            </a:pPr>
            <a:r>
              <a:t>Skenario Pengujian (test_faults_reproducer.py):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Stok awal produk 'Laptop Gaming': 1 unit.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10 Thread pelanggan melepaskan checkout secara simultan (Barrier Synchronization).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Ekspektasi: Tepat 1 transaksi berhasil, 9 transaksi ditolak.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Hasil Aktual: 10 transaksi berhasil disetujui!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Stok Akhir di Gudang: -9 (Minus Sembilan).</a:t>
            </a:r>
          </a:p>
          <a:p>
            <a:br/>
            <a:pPr>
              <a:defRPr sz="1000">
                <a:solidFill>
                  <a:srgbClr val="DC2626"/>
                </a:solidFill>
                <a:latin typeface="Consolas"/>
              </a:defRPr>
            </a:pPr>
            <a:r>
              <a:t>Log Hasil Test Runner:</a:t>
            </a:r>
            <a:br/>
            <a:r>
              <a:t>&gt;&gt;&gt; STOK AWAL FISIK     : 1</a:t>
            </a:r>
            <a:br/>
            <a:r>
              <a:t>&gt;&gt;&gt; TRANSAKSI SUKSES    : 10 (Seharusnya maks 1!)</a:t>
            </a:r>
            <a:br/>
            <a:r>
              <a:t>&gt;&gt;&gt; STOK AKHIR DI GUDANG: -9</a:t>
            </a:r>
            <a:br/>
            <a:r>
              <a:t>&gt;&gt;&gt; FAULT 1 BERHASIL DIBUKTIKAN (OVERSELLING)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Analisis Cacat Kode (Source Code Flaw)</a:t>
            </a:r>
          </a:p>
          <a:p>
            <a:pPr>
              <a:spcAft>
                <a:spcPts val="800"/>
              </a:spcAft>
              <a:defRPr sz="1100" b="1">
                <a:latin typeface="Consolas"/>
              </a:defRPr>
            </a:pPr>
            <a:r>
              <a:t>File: src/shop/inventory.py (VulnerableInventoryManager)</a:t>
            </a:r>
          </a:p>
          <a:p>
            <a:pPr>
              <a:spcAft>
                <a:spcPts val="1000"/>
              </a:spcAft>
              <a:defRPr sz="1050">
                <a:solidFill>
                  <a:srgbClr val="DC2626"/>
                </a:solidFill>
                <a:latin typeface="Consolas"/>
              </a:defRPr>
            </a:pPr>
            <a:r>
              <a:t>def deduct_stock(self, sku: str, quantity: int):</a:t>
            </a:r>
            <a:br/>
            <a:r>
              <a:t>    # 1. Pengecekan stok (Time of Check)</a:t>
            </a:r>
            <a:br/>
            <a:r>
              <a:t>    if self._products[sku].stock &gt;= quantity:</a:t>
            </a:r>
            <a:br/>
            <a:r>
              <a:t>        # 2. Jeda waktu / Context switch thread</a:t>
            </a:r>
            <a:br/>
            <a:r>
              <a:t>        time.sleep(0.005)</a:t>
            </a:r>
            <a:br/>
            <a:r>
              <a:t>        # 3. Pengurangan stok (Time of Use) - CACAT!</a:t>
            </a:r>
            <a:br/>
            <a:r>
              <a:t>        self._products[sku].stock -= quantity</a:t>
            </a:r>
            <a:br/>
            <a:r>
              <a:t>        return True</a:t>
            </a:r>
            <a:br/>
            <a:r>
              <a:t>    return False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🔴 Titik Lemah (TOCTOU):</a:t>
            </a:r>
            <a:br/>
            <a:r>
              <a:t>Di antara baris pengecekan 'if' dan eksekusi pengurangan '-=', thread lain sempat membaca nilai stok yang belum berubah. Tidak ada mutual exclusion (lock) yang melindungi critical section.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ROOT CAUSE ANALYSIS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RCA Defect 1: 5-Whys &amp; Fishbone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06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5-Whys Analysis (Defect 1)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1: Mengapa stok bisa bernilai -9?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Karena ada 10 transaksi yang disetujui bersamaan pada stok 1.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2: Mengapa 10 transaksi bisa disetujui?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Karena seluruh 10 thread mendeteksi stok &gt;= 1 masih terpenuhi.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3: Mengapa semua thread membaca nilai yang sama?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Pembacaan dilakukan paralel sebelum thread lain sempat mengurangi stok.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4: Mengapa operasi baca-kurang tidak sinkron?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Tidak ada implementasi Mutex Lock pada critical section data stok.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5: AKAR MASALAH (Root Cause):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Developer mengira operasi memori otomatis atomik &amp; pipeline QA tidak memiliki concurrency stress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Ishikawa (Fishbone) 4M Category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MAN (SDM &amp; Pengetahuan)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Kurangnya pemahaman developer terkait Thread Safety &amp; Race Condition pada arsitektur web concurrently-driven.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MACHINE (Infrastruktur / Runtime)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Runtime Python multi-threading melakukan preemptive thread switching saat operasi I/O atau sleep.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METHOD (Prosedur &amp; Pengujian)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Pengujian hanya berfokus pada single-threaded unit test. Tidak ada checklist Concurrency Code Review.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MATERIAL (Spesifikasi &amp; Desain)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Spesifikasi SRS tidak mendefinisikan batasan load transaksi bersamaan pada event Flash Sale.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SOLUSI &amp; VERIFIKASI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Perbaikan Defect 1: Thread-Safe Mutex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07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Implementasi Kode Perbaikan (Fixed)</a:t>
            </a:r>
          </a:p>
          <a:p>
            <a:pPr>
              <a:spcAft>
                <a:spcPts val="10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class FixedInventoryManager:</a:t>
            </a:r>
            <a:br/>
            <a:r>
              <a:t>    def __init__(self):</a:t>
            </a:r>
            <a:br/>
            <a:r>
              <a:t>        self._products = {}</a:t>
            </a:r>
            <a:br/>
            <a:r>
              <a:t>        # KUNCI MUTEX REENTRANT</a:t>
            </a:r>
            <a:br/>
            <a:r>
              <a:t>        self._lock = threading.RLock()</a:t>
            </a:r>
            <a:br/>
            <a:br/>
            <a:r>
              <a:t>    def deduct_stock(self, sku: str, quantity: int):</a:t>
            </a:r>
            <a:br/>
            <a:r>
              <a:t>        with self._lock:  # Critical Section Terkunci</a:t>
            </a:r>
            <a:br/>
            <a:r>
              <a:t>            if self._products[sku].stock &gt;= quantity:</a:t>
            </a:r>
            <a:br/>
            <a:r>
              <a:t>                time.sleep(0.005)</a:t>
            </a:r>
            <a:br/>
            <a:r>
              <a:t>                self._products[sku].stock -= quantity</a:t>
            </a:r>
            <a:br/>
            <a:r>
              <a:t>                return True</a:t>
            </a:r>
            <a:br/>
            <a:r>
              <a:t>            return False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💡 Prinsip Solusi:</a:t>
            </a:r>
            <a:br/>
            <a:r>
              <a:t>Blok 'with self._lock' memastikan operasi pengecekan dan pengurangan stok bersifat ATOMIK. Hanya 1 thread yang diizinkan mengakses data stok dalam satu waktu.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3891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Hasil Verifikasi Otomatis (test_faults_fixed.py)</a:t>
            </a:r>
          </a:p>
          <a:p>
            <a:pPr>
              <a:defRPr sz="1200" b="1">
                <a:latin typeface="Segoe UI"/>
              </a:defRPr>
            </a:pPr>
            <a:r>
              <a:t>Hasil Eksekusi Unit Test Verifikasi:</a:t>
            </a:r>
            <a:br/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Stok Awal Fisik: 1 Unit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Permintaan Masuk: 10 Thread Paralel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Transaksi Sukses: 1 Transaksi (100% Sesuai)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Transaksi Ditolak: 9 Transaksi (Aman ditolak)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Stok Akhir Gudang: 0 Unit (Tidak Pernah Minus!)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Status Pengujian: PASSED / OK (Zero Overselling)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STUDI KASUS DEFECT 2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Fault 2: Float Precision Leak &amp; Unbounded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08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Gejala &amp; Bukti Pengujian Empiris</a:t>
            </a:r>
          </a:p>
          <a:p>
            <a:pPr>
              <a:spcAft>
                <a:spcPts val="600"/>
              </a:spcAft>
              <a:defRPr sz="1200" b="1">
                <a:latin typeface="Segoe UI"/>
              </a:defRPr>
            </a:pPr>
            <a:r>
              <a:t>Skenario Kasus Nyata: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• Kasus A: Pecahan Moneter (3 x Rp 0.1)</a:t>
            </a:r>
            <a:br/>
            <a:r>
              <a:t>  Hasil float: Rp 0.30000000000000004</a:t>
            </a:r>
            <a:br/>
            <a:r>
              <a:t>  Dampak: Residu pembulatan merusak laporan keuangan audit.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• Kasus B: Promo Tumpuk Tanpa Batas</a:t>
            </a:r>
            <a:br/>
            <a:r>
              <a:t>  Harga Buku: Rp 100.000</a:t>
            </a:r>
            <a:br/>
            <a:r>
              <a:t>  Diskon Kupon 50%: Rp 50.000</a:t>
            </a:r>
            <a:br/>
            <a:r>
              <a:t>  Voucher Tambahan: Rp 70.000</a:t>
            </a:r>
            <a:br/>
            <a:r>
              <a:t>  Total Diskon: Rp 120.000 (Melebihi Subtotal!)</a:t>
            </a:r>
            <a:br/>
            <a:r>
              <a:t>  Dasar Pajak: Rp -20.000</a:t>
            </a:r>
            <a:br/>
            <a:r>
              <a:t>  Pajak (PPN 11%): Rp -2.200</a:t>
            </a:r>
            <a:br/>
            <a:r>
              <a:t>  TOTAL TAGIHAN: -Rp 22.200 (NEGATIF!)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Analisis Cacat Kode (Source Code Flaw)</a:t>
            </a:r>
          </a:p>
          <a:p>
            <a:pPr>
              <a:spcAft>
                <a:spcPts val="800"/>
              </a:spcAft>
              <a:defRPr sz="1100" b="1">
                <a:latin typeface="Consolas"/>
              </a:defRPr>
            </a:pPr>
            <a:r>
              <a:t>File: src/shop/pricing.py (VulnerablePricingEngine)</a:t>
            </a:r>
          </a:p>
          <a:p>
            <a:pPr>
              <a:spcAft>
                <a:spcPts val="1000"/>
              </a:spcAft>
              <a:defRPr sz="1000">
                <a:solidFill>
                  <a:srgbClr val="DC2626"/>
                </a:solidFill>
                <a:latin typeface="Consolas"/>
              </a:defRPr>
            </a:pPr>
            <a:r>
              <a:t>def calculate_totals(self, items, percentage_discount, fixed_discount):</a:t>
            </a:r>
            <a:br/>
            <a:r>
              <a:t>    subtotal = sum(i.quantity * i.unit_price for i in items)</a:t>
            </a:r>
            <a:br/>
            <a:r>
              <a:t>    # Float inexactness</a:t>
            </a:r>
            <a:br/>
            <a:r>
              <a:t>    discount_pct = subtotal * (percentage_discount / 100.0)</a:t>
            </a:r>
            <a:br/>
            <a:r>
              <a:t>    # Akumulasi tanpa batas atas (No Ceiling Cap)</a:t>
            </a:r>
            <a:br/>
            <a:r>
              <a:t>    total_discount = discount_pct + fixed_discount</a:t>
            </a:r>
            <a:br/>
            <a:r>
              <a:t>    taxable_amount = subtotal - total_discount # BISA MINUS</a:t>
            </a:r>
            <a:br/>
            <a:r>
              <a:t>    tax = taxable_amount * self.tax_rate</a:t>
            </a:r>
            <a:br/>
            <a:r>
              <a:t>    return {'total': taxable_amount + tax}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🔴 Titik Lemah:</a:t>
            </a:r>
            <a:br/>
            <a:r>
              <a:t>1. Tipe data 'float' IEEE 754 tidak tepat untuk kalkulasi moneter.</a:t>
            </a:r>
            <a:br/>
            <a:r>
              <a:t>2. Tidak ada boundary check bahwa total_discount tidak boleh melebihi subtotal, dan total tagihan tidak boleh &lt;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ROOT CAUSE ANALYSIS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RCA Defect 2: 5-Whys &amp; Fishbone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09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5-Whys Analysis (Defect 2)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1: Mengapa total invoice bernilai negatif (-Rp 22.200)?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Karena nilai potongan diskon lebih besar dari harga pokok barang.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2: Mengapa diskon bisa lebih besar dari subtotal?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Sistem menjumlahkan voucher persentase dan nominal tanpa batasan.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3: Mengapa tidak dibatasi batas maksimal diskon?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Developer menerapkan formula matematika langsung tanpa aturan bisnis 'cap'.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4: Mengapa ada angka desimal biner aneh (0.3000...4)?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Menggunakan tipe primitif float bawaan CPU daripada representasi desimal moneter.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5: AKAR MASALAH (Root Cause):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Ketiadaan Value Object 'Money' berbasis Decimal dan tidak dilakukannya Boundary Value Analysis (BVA) pada skenario diskon.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Ishikawa (Fishbone) 4M Category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MAN (SDM &amp; Pengetahuan)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Developer belum memahami keterbatasan representasi biner IEEE 754 float untuk perhitungan akuntansi.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MACHINE (Hardware &amp; Floating Point)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ALU komputer merepresentasikan bilangan pecahan dalam basis 2 biner, bukan basis 10 desimal.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METHOD (Pengujian &amp; Verifikasi)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Unit testing hanya menguji angka bulat sederhana (happy path); tidak menguji nilai batas ekstrim (BVA).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MATERIAL (Aturan Bisnis &amp; Schema)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Spesifikasi promosi dari tim marketing tidak mendefinisikan aturan kombinasi voucher (stackable rule).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SOLUSI &amp; VERIFIKASI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Perbaikan Defect 2: Decimal Moneter &amp; Boundary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10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Implementasi Kode Perbaikan (Fixed)</a:t>
            </a:r>
          </a:p>
          <a:p>
            <a:pPr>
              <a:spcAft>
                <a:spcPts val="800"/>
              </a:spcAft>
              <a:defRPr sz="950">
                <a:solidFill>
                  <a:srgbClr val="10B981"/>
                </a:solidFill>
                <a:latin typeface="Consolas"/>
              </a:defRPr>
            </a:pPr>
            <a:r>
              <a:t>from decimal import Decimal, ROUND_HALF_UP</a:t>
            </a:r>
            <a:br/>
            <a:br/>
            <a:r>
              <a:t>class FixedPricingEngine:</a:t>
            </a:r>
            <a:br/>
            <a:r>
              <a:t>    def calculate_totals(self, items, pct_disc, fixed_disc):</a:t>
            </a:r>
            <a:br/>
            <a:r>
              <a:t>        subtotal = sum(Decimal(str(i.qty))*Decimal(str(i.price)) ...)</a:t>
            </a:r>
            <a:br/>
            <a:r>
              <a:t>        safe_pct = max(0.0, min(100.0, pct_disc))</a:t>
            </a:r>
            <a:br/>
            <a:r>
              <a:t>        disc_pct = subtotal * (Decimal(str(safe_pct)) / Decimal('100'))</a:t>
            </a:r>
            <a:br/>
            <a:r>
              <a:t>        disc_fixed = max(Decimal('0'), Decimal(str(fixed_disc)))</a:t>
            </a:r>
            <a:br/>
            <a:r>
              <a:t>        # BOUNDARY CEILING CAP (Diskon maks = subtotal)</a:t>
            </a:r>
            <a:br/>
            <a:r>
              <a:t>        effective_discount = min(disc_pct + disc_fixed, subtotal)</a:t>
            </a:r>
            <a:br/>
            <a:r>
              <a:t>        taxable = max(Decimal('0'), subtotal - effective_discount)</a:t>
            </a:r>
            <a:br/>
            <a:r>
              <a:t>        tax = (taxable * self.tax_rate).quantize(Decimal('0.01'))</a:t>
            </a:r>
            <a:br/>
            <a:r>
              <a:t>        total = (taxable + tax).quantize(Decimal('0.01'))</a:t>
            </a:r>
            <a:br/>
            <a:r>
              <a:t>        return {'subtotal': subtotal, 'discount': effective_discount, 'total': total}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💡 Prinsip Solusi:</a:t>
            </a:r>
            <a:br/>
            <a:r>
              <a:t>1. Menggunakan Decimal untuk presisi matematis eksak.</a:t>
            </a:r>
            <a:br/>
            <a:r>
              <a:t>2. Fungsi min() menjamin diskon tidak pernah melebihi harga belanja.</a:t>
            </a:r>
            <a:br/>
            <a:r>
              <a:t>3. Nilai total diproteksi minimal Rp 0.00.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3891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Hasil Verifikasi Otomatis (test_faults_fixed.py)</a:t>
            </a:r>
          </a:p>
          <a:p>
            <a:pPr>
              <a:defRPr sz="1200" b="1">
                <a:latin typeface="Segoe UI"/>
              </a:defRPr>
            </a:pPr>
            <a:r>
              <a:t>Hasil Eksekusi Unit Test Verifikasi:</a:t>
            </a:r>
            <a:br/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Subtotal Belanja: Rp 100,000.00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Diskon Terpasang: 50% + Rp 70,000 (Total Rp 120,000)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Diskon Efektif: Rp 100,000.00 (Dibatasi setara subtotal)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Dasar Pajak &amp; PPN: Rp 0.00 (Tidak pernah minus!)</a:t>
            </a:r>
          </a:p>
          <a:p>
            <a:pPr>
              <a:spcAft>
                <a:spcPts val="5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TOTAL TAGIHAN AKHIR: Rp 0.00 (Aman, zero leakage)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Uji Presisi 3 * 0.1: Tepat 0.30 (Tanpa biner artefak)</a:t>
            </a:r>
          </a:p>
          <a:p>
            <a:pPr>
              <a:spcAft>
                <a:spcPts val="5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Status Pengujian: PASSED / OK (Presisi Terjamin)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STUDI KASUS DEFECT 3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Fault 3: Phantom Stock Deduction (No Rollback)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11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Gejala &amp; Bukti Pengujian Empiris</a:t>
            </a:r>
          </a:p>
          <a:p>
            <a:pPr>
              <a:spcAft>
                <a:spcPts val="600"/>
              </a:spcAft>
              <a:defRPr sz="1200" b="1">
                <a:latin typeface="Segoe UI"/>
              </a:defRPr>
            </a:pPr>
            <a:r>
              <a:t>Skenario Kasus Nyata: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Stok awal produk 'Smartphone Flagship': 5 unit.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Pelanggan memesan 2 unit.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Saat proses charge ke payment gateway bank, terjadi Network Timeout (HTTP 504).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Sistem menangkap exception dan menandai status order: FAILED.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Pelanggan tidak dikenakan biaya sama sekali.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ANOMALI PARAH:</a:t>
            </a:r>
            <a:br/>
            <a:r>
              <a:t>Stok di gudang berkurang menjadi 3 unit dan TIDAK DIKEMBALIKAN!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t>• Dampak: 2 Unit barang hilang secara misterius (Phantom Deduction).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Analisis Cacat Kode (Source Code Flaw)</a:t>
            </a:r>
          </a:p>
          <a:p>
            <a:pPr>
              <a:spcAft>
                <a:spcPts val="800"/>
              </a:spcAft>
              <a:defRPr sz="1100" b="1">
                <a:latin typeface="Consolas"/>
              </a:defRPr>
            </a:pPr>
            <a:r>
              <a:t>File: src/shop/order_service.py (VulnerableOrderService)</a:t>
            </a:r>
          </a:p>
          <a:p>
            <a:pPr>
              <a:spcAft>
                <a:spcPts val="1000"/>
              </a:spcAft>
              <a:defRPr sz="950">
                <a:solidFill>
                  <a:srgbClr val="DC2626"/>
                </a:solidFill>
                <a:latin typeface="Consolas"/>
              </a:defRPr>
            </a:pPr>
            <a:r>
              <a:t>def checkout(self, customer, items, ...):</a:t>
            </a:r>
            <a:br/>
            <a:r>
              <a:t>    # 1. Deduksi stok dilakukan di awal</a:t>
            </a:r>
            <a:br/>
            <a:r>
              <a:t>    for item in items:</a:t>
            </a:r>
            <a:br/>
            <a:r>
              <a:t>        self.inventory.deduct_stock(item.sku, item.quantity)</a:t>
            </a:r>
            <a:br/>
            <a:br/>
            <a:r>
              <a:t>    try:</a:t>
            </a:r>
            <a:br/>
            <a:r>
              <a:t>        # 2. Pembayaran ke gateway pihak ketiga</a:t>
            </a:r>
            <a:br/>
            <a:r>
              <a:t>        self.gateway.process_charge(...)</a:t>
            </a:r>
            <a:br/>
            <a:r>
              <a:t>        return order</a:t>
            </a:r>
            <a:br/>
            <a:r>
              <a:t>    except PaymentError as err:</a:t>
            </a:r>
            <a:br/>
            <a:r>
              <a:t>        # 3. CACAT: Error ditangkap tapi LUPA ROLLBACK STOK!</a:t>
            </a:r>
            <a:br/>
            <a:r>
              <a:t>        order.status = OrderStatus.FAILED</a:t>
            </a:r>
            <a:br/>
            <a:r>
              <a:t>        return order  # Stok gudang dibiarkan hilang!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🔴 Titik Lemah:</a:t>
            </a:r>
            <a:br/>
            <a:r>
              <a:t>Ketiadaan prinsip atomisitas transaksi (All-or-Nothing). Alur multi-langkah tidak memiliki blok kompensasi pemulihan state saat terjadi kegagalan parsial.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ROOT CAUSE ANALYSIS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RCA Defect 3: 5-Whys &amp; Fishbone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12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5-Whys Analysis (Defect 3)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1: Mengapa stok gudang berkurang padahal pesanan batal?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Karena pemotongan stok dilakukan sebelum otorisasi gateway berhasil.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2: Mengapa stok tidak dikembalikan saat payment error?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Blok catch exception hanya mencatat pesan error tanpa memanggil restore_stock.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3: Mengapa tidak ada mekanisme kompensasi rollback?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Layanan checkout tidak dirancang mengikuti pola transaksi atomik.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4: Mengapa masalah ini tidak ditemukan saat fase testing?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Pengujian tim QA hanya menguji skenario sukses (Happy Path testing).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Why 5: AKAR MASALAH (Root Cause):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👉 Ketiadaan pola Compensating Transaction (Saga Pattern) dan tidak diterapkannya Negative &amp; Fault-Injection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Ishikawa (Fishbone) 4M Category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MAN (SDM &amp; Pola Pikir)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Developer berfokus pada alur normal dan mengabaikan penanganan kondisi abnormal / parsial error.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MACHINE (Jaringan &amp; Provider Eksternal)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Ketergantungan pada 3rd-party Payment Gateway yang rentan fluktuasi koneksi dan timeout.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METHOD (Pengujian &amp; Error Handling)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Ketiadaan pengujian Chaos Engineering / Fault-Injection untuk mensimulasikan kegagalan jaringan.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🐟 MATERIAL (Arsitektur Desain)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   Arsitektur tidak memiliki Distributed Transaction Coordinator atau job rekonsiliasi stok otomatis.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SOLUSI &amp; VERIFIKASI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Perbaikan Defect 3: Compensating Transaction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Implementasi Kode Perbaikan (Fixed)</a:t>
            </a:r>
          </a:p>
          <a:p>
            <a:pPr>
              <a:spcAft>
                <a:spcPts val="800"/>
              </a:spcAft>
              <a:defRPr sz="900">
                <a:solidFill>
                  <a:srgbClr val="10B981"/>
                </a:solidFill>
                <a:latin typeface="Consolas"/>
              </a:defRPr>
            </a:pPr>
            <a:r>
              <a:t>class FixedOrderService:</a:t>
            </a:r>
            <a:br/>
            <a:r>
              <a:t>    def checkout(self, customer, items, ...):</a:t>
            </a:r>
            <a:br/>
            <a:r>
              <a:t>        allocated_items = []</a:t>
            </a:r>
            <a:br/>
            <a:r>
              <a:t>        try:</a:t>
            </a:r>
            <a:br/>
            <a:r>
              <a:t>            # 1. Alokasi stok dengan pelacakan</a:t>
            </a:r>
            <a:br/>
            <a:r>
              <a:t>            for item in items:</a:t>
            </a:r>
            <a:br/>
            <a:r>
              <a:t>                if not self.inventory.deduct_stock(item.sku, item.qty):</a:t>
            </a:r>
            <a:br/>
            <a:r>
              <a:t>                    self._rollback(allocated_items)</a:t>
            </a:r>
            <a:br/>
            <a:r>
              <a:t>                    return order_failed</a:t>
            </a:r>
            <a:br/>
            <a:r>
              <a:t>                allocated_items.append(item)</a:t>
            </a:r>
            <a:br/>
            <a:br/>
            <a:r>
              <a:t>            # 2. Proses pembayaran</a:t>
            </a:r>
            <a:br/>
            <a:r>
              <a:t>            self.gateway.process_charge(...)</a:t>
            </a:r>
            <a:br/>
            <a:r>
              <a:t>            return order_success</a:t>
            </a:r>
            <a:br/>
            <a:br/>
            <a:r>
              <a:t>        except Exception as err:</a:t>
            </a:r>
            <a:br/>
            <a:r>
              <a:t>            # 3. KOMPENSASI OTOMATIS SAAT TERJADI ERROR</a:t>
            </a:r>
            <a:br/>
            <a:r>
              <a:t>            self._rollback(allocated_items)</a:t>
            </a:r>
            <a:br/>
            <a:r>
              <a:t>            order.status = OrderStatus.FAILED</a:t>
            </a:r>
            <a:br/>
            <a:r>
              <a:t>            return order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💡 Prinsip Solusi:</a:t>
            </a:r>
            <a:br/>
            <a:r>
              <a:t>Pola Unit-of-Work / Saga Rollback. Setiap mutasi state yang telah dilakukan dicatat dan dijamin dipulihkan (*compensated*) secara otomatis jika langkah berikutnya mengalami kegagalan.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3891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Hasil Verifikasi Otomatis (test_faults_fixed.py)</a:t>
            </a:r>
          </a:p>
          <a:p>
            <a:pPr>
              <a:defRPr sz="1200" b="1">
                <a:latin typeface="Segoe UI"/>
              </a:defRPr>
            </a:pPr>
            <a:r>
              <a:t>Hasil Eksekusi Unit Test Verifikasi:</a:t>
            </a:r>
            <a:br/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Stok Awal Gudang: 5 Unit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Jumlah Pesanan: 2 Unit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Simulasi Gateway: HTTP 504 Gateway Timeout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Status Pesanan: FAILED (Dibatalkan Aman)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Aksi Sistem: Compensating Rollback Dieksekusi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Stok Pasca Rollback: 5 Unit (Kembali Utuh 100%!)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• Phantom Deduction: 0 Unit (Tereliminasi Total)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Status Pengujian: PASSED / OK (Data Integrity Terjamin)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ACTION PLAN MANAJEMEN MUTU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Matriks Tindakan Korektif &amp; Preventif (CAPA)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14 /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3291840"/>
                <a:gridCol w="3322015"/>
              </a:tblGrid>
              <a:tr h="1143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Defect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Defect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Corrective Action (Langsung)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Preventive Action (Jangka Panjang)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DEF-01</a:t>
                      </a:r>
                      <a:br/>
                      <a:r>
                        <a:t>(Critical)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Concurrency Race Condition (Overselling)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Menerapkan threading.RLock pada modul inventory untuk melindungi operasi read-modify-write.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Menambahkan Concurrency Stress Testing (Locust/k6) ke CI/CD; menggunakan Pessimistic Locking di Database.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DEF-02</a:t>
                      </a:r>
                      <a:br/>
                      <a:r>
                        <a:t>(High)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Float Precision Leak &amp; Unbounded Discount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Refactoring ke decimal.Decimal dan membatasi total diskon dengan fungsi min(discount, subtotal).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Mewajibkan Boundary Value Analysis (BVA) pada spesifikasi promosi; membuat Value Object Money terpusat.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DEF-03</a:t>
                      </a:r>
                      <a:br/>
                      <a:r>
                        <a:t>(Critical)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Phantom Stock Deduction (No Rollback)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Menambahkan blok kompensasi try-except-rollback pada service alur pemesanan checkout.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Menerapkan arsitektur Saga Pattern untuk transaksi terdistribusi; menyusun cron job rekonsiliasi data stok.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REKOMENDASI SOFTWARE QUALITY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Best Practices Pengujian &amp; Keandalan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Segoe UI"/>
              </a:defRPr>
            </a:pPr>
            <a:r>
              <a:t>15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Pengujian Nilai Batas (Boundary Value Analysis)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Mayoritas defect bisnis (seperti diskon melebihi 100% atau tagihan negatif) terjadi di titik batas ekstrem. Pengujian harus mencakup nilai: 0, nilai batas atas promo, angka negatif, dan nilai pecahan terkecil.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2. Concurrency &amp; Multi-Thread Testing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Jangan mengandalkan pengujian single-threaded sederhana. Gunakan mekanisme Barrier Synchronization atau Thread Pool untuk mensimulasikan ribuan transaksi simultan pada resource terbatas.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3. Chaos Engineering &amp; Fault-Injection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Uji ketahanan sistem terhadap skenario terburuk secara sengaja (koneksi payment putus di tengah jalan, database timeout, server restart). Pastikan sistem selalu kembali ke state konsisten.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4. Automated CI/CD Quality Gates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Terapkan pipeline pengujian otomatis sebelum kode dapat di-merge: linter tipe data statis (mypy), automated regression test, dan mutation testing untuk mengukur efektivitas test suite.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KESIMPULAN &amp; LESSON LEARNED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Kualitas perangkat lunak tidak hanya diukur dari kode yang bebas error sintaks, tetapi dari ketahanan logika terhadap konkurensi tinggi, integritas data moneter, dan penanganan kegagalan parsial.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Metodologi Root Cause Analysis (5-Whys &amp; Fishbone Diagram) terbukti efektif menembus akar masalah terdalam dari sekadar symptom fisik hingga proses pengembangan &amp; arsitektur sistem.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Melalui verifikasi automated testing, seluruh 3 defect berhasil diselesaikan 100% tanpa regresi.</a:t>
            </a:r>
          </a:p>
          <a:p>
            <a:br/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TERIMA KASIH — SESI TANYA JAWAB (Q &amp; A)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Zainul Mutawakkil (NIM: 23EO10003)  •  Mata Kuliah: Analisis dan Pengujian Sistem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