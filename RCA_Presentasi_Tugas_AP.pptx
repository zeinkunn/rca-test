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1ff2c193-f384-6637-df40-7ec363e0f80d}">
          <p14:sldIdLst>
            <p14:sldId id="256"/>
            <p14:sldId id="257"/>
            <p14:sldId id="258"/>
            <p14:sldId id="259"/>
          </p14:sldIdLst>
        </p14:section>
        <p14:section name="Defect 1" id="{908fab32-1a97-9bf2-67f9-555067b559d9}">
          <p14:sldIdLst>
            <p14:sldId id="260"/>
            <p14:sldId id="261"/>
            <p14:sldId id="262"/>
          </p14:sldIdLst>
        </p14:section>
        <p14:section name="Defect 2" id="{f450fd4e-346d-7f6b-3e74-4aaded400572}">
          <p14:sldIdLst>
            <p14:sldId id="263"/>
            <p14:sldId id="264"/>
            <p14:sldId id="265"/>
          </p14:sldIdLst>
        </p14:section>
        <p14:section name="Defect 3" id="{83096105-77d5-d35c-462b-61bbebcca8dd}">
          <p14:sldIdLst>
            <p14:sldId id="266"/>
            <p14:sldId id="267"/>
            <p14:sldId id="268"/>
          </p14:sldIdLst>
        </p14:section>
        <p14:section name="Penutup" id="{cc34719c-77e2-cff3-47e5-cb0e74948828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72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7665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EEAD4"/>
                </a:solidFill>
              </a:rPr>
              <a:t>TUGAS ANALISIS DAN PENGUJIAN SISTEM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ROOT CAUSE ANALYSIS (RCA)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&amp; DEFECT IDENTIFICATION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Studi Kasus Penemuan 3 Defect Kritis, Analisis 5-Whys, Diagram Fishbone, serta Verifikasi Perbaikan pada Mini E-Commerce Order System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578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Disusun Oleh : Zainul Mutawakkil  |  NIM : 23EO10003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235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Mata Kuliah : Analisis dan Pengujian Sistem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589520" y="3429000"/>
            <a:ext cx="329184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35640" y="2926080"/>
            <a:ext cx="1005840" cy="10058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20574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7315200" y="34290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05472" y="19476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05472" y="46908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20574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183880" y="34290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4152" y="19476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74152" y="46908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52560" y="20574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9052560" y="34290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42832" y="19476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2832" y="46908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21240" y="20574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9921240" y="3429000"/>
            <a:ext cx="640080" cy="13716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11512" y="19476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1512" y="4690872"/>
            <a:ext cx="219456" cy="21945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</a:rPr>
              <a:t>ARSITEKTUR PERANGKAT LUNAK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Gambaran Umum Mini E-Commerce Order System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02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477256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7452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345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8928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Modul: Inventory Manager (inventory.py)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4231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Mengelola ketersediaan stok fisik barang di gudang. Bertanggung jawab atas operasi cek stok dan pengurangan stok saat checkout.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08776" y="1600200"/>
            <a:ext cx="5477256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83096" y="1874520"/>
            <a:ext cx="640080" cy="6400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20345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06056" y="18928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Modul: Pricing Engine (pricing.py)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06056" y="24231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Menghitung subtotal belanja, diskon bertingkat (persentase &amp; voucher nominal), serta tarif pajak pertambahan nilai (PPN 11%).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2920" y="3520440"/>
            <a:ext cx="5477256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3794760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95478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3813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Modul: Payment Gateway (payment.py)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00200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Simulasi integrasi gateway pembayaran pihak ketiga (bank/fintech) dengan skenario timeout jaringan dan saldo tidak cukup.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08776" y="3520440"/>
            <a:ext cx="5477256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83096" y="3794760"/>
            <a:ext cx="640080" cy="6400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395478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06056" y="3813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Modul: Order Service (order_service.py)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306056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Orchestrator utama yang menghubungkan pemotongan stok, kalkulasi tagihan, dan pemanggilan payment gateway.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02920" y="5440680"/>
            <a:ext cx="11185855" cy="1005840"/>
          </a:xfrm>
          <a:prstGeom prst="roundRect">
            <a:avLst>
              <a:gd name="adj" fmla="val 109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571500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582930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463040" y="54864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</a:rPr>
              <a:t>Tujuan Mini Program: 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Menyediakan repositori modular realistis untuk mendemonstrasikan bagaimana celah desain kecil pada konkurensi, tipe data, dan alur transaksi dapat berkembang menjadi kegagalan sistemik berisiko tinggi.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</a:rPr>
              <a:t>LANDASAN TEORI &amp; KONSEP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Taksonomi Kegagalan Software &amp; Metodologi RCA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03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455768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33008" y="1600200"/>
            <a:ext cx="5455768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7830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Taksonomi Kegagalan (Standar IEEE 610.12)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499856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78608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2514600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HUMAN MISTAKE (Kekeliruan Manusia)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825496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Kekeliruan kognitif atau asumsi salah oleh programmer saat merancang/menulis kode.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499856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146304" cy="146304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3520440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FAULT / DEFECT (Cacat pada Kode)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831336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Cacat statis di dalam baris kode program (misal ketiadaan lock, penggunaan float).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434840"/>
            <a:ext cx="499856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90288"/>
            <a:ext cx="146304" cy="14630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4526280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ERROR (Kondisi State Internal Korup)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837176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Penyimpangan nilai internal di memori saat kode dieksekusi (stok bernilai -9, saldo minus).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5440680"/>
            <a:ext cx="499856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5596128"/>
            <a:ext cx="146304" cy="146304"/>
          </a:xfrm>
          <a:prstGeom prst="ellipse">
            <a:avLst/>
          </a:prstGeom>
          <a:solidFill>
            <a:srgbClr val="9F1239"/>
          </a:solidFill>
          <a:ln w="12700">
            <a:solidFill>
              <a:srgbClr val="9F12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88720" y="5532120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FAILURE (Kegagalan Eksternal)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843016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Kegagalan fungsional yang teramati langsung oleh user atau sistem luar (oversell, komplain).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1608" y="178308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17830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Metodologi Root Cause Analysis (RCA)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61608" y="2423160"/>
            <a:ext cx="4998568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44488" y="2578608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8808" y="2514600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Metode 5-Whys (Sakichi Toyoda)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18808" y="2825496"/>
            <a:ext cx="4358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Teknik investigasi iteratif dengan menanyakan 'Mengapa' minimal 5 kali secara beruntun dari gejala luar hingga menembus akar masalah terdalam (organisasi, desain arsitektur, atau proses QA).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61608" y="3584448"/>
            <a:ext cx="4998568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4488" y="3739896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18808" y="3675888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Ishikawa / Fishbone Diagram (Kaoru Ishikawa)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18808" y="3986784"/>
            <a:ext cx="4358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Diagram sebab-akibat untuk memetakan akar penyebab ke dalam 4 kategori komprehensif: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 - Man (Keahlian &amp; kelalaian manusia)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 - Machine (Infrastruktur, thread, hardware)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 - Method (Metodologi pengujian, code review)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 - Material (Spesifikasi, batasan bisnis).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61608" y="5340096"/>
            <a:ext cx="4998568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4488" y="5495544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18808" y="5431536"/>
            <a:ext cx="435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Corrective &amp; Preventive Actions (CAPA)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18808" y="5742432"/>
            <a:ext cx="435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Output terpenting RCA: Solusi kuratif langsung (bug fix) dan solusi preventif jangka panjang (otomasi QA) agar insiden tidak terulang.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1D48"/>
                </a:solidFill>
              </a:rPr>
              <a:t>HASIL IDENTIFIKASI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Ringkasan 3 Defect/Fault Kritis yang Ditemukan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04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3594506" cy="484632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2880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20240"/>
            <a:ext cx="164592" cy="164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8288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FAULT 01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31373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Concurrency Race Condition (Inventory Oversell)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85800" y="3063240"/>
            <a:ext cx="3228746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136392"/>
            <a:ext cx="2954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Modul: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inventory.py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Kategori: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Thread-Safety &amp; Concurrency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Severity: </a:t>
            </a:r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CRITICAL / HIGH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31520" y="411480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4197096"/>
            <a:ext cx="164592" cy="16459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" y="4114800"/>
            <a:ext cx="27258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</a:rPr>
              <a:t>Gejala Kegagalan: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526280"/>
            <a:ext cx="31373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Stok fisik tersisa 1 unit diserbu 10 user konkuren. Seluruh 10 pesanan lolos dan stok menjadi -9 (minus).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31520" y="5440680"/>
            <a:ext cx="329184" cy="32918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5522976"/>
            <a:ext cx="164592" cy="16459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61288" y="5440680"/>
            <a:ext cx="27258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Solusi Perbaikan: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731520" y="5852160"/>
            <a:ext cx="31373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Pencegahan overselling dengan Reentrant Mutex Lock (threading.RLock).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298594" y="1600200"/>
            <a:ext cx="3594506" cy="484632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527194" y="182880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354" y="1920240"/>
            <a:ext cx="164592" cy="16459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892954" y="18288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FAULT 02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27194" y="2331720"/>
            <a:ext cx="31373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Float Precision Leak &amp; Unbounded Discount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481474" y="3063240"/>
            <a:ext cx="3228746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618634" y="3136392"/>
            <a:ext cx="2954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Modul: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pricing.py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Kategori: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Business Logic &amp; Precision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Severity: </a:t>
            </a:r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HIGH (Financial Loss)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4527194" y="411480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490" y="4197096"/>
            <a:ext cx="164592" cy="16459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956962" y="4114800"/>
            <a:ext cx="27258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</a:rPr>
              <a:t>Gejala Kegagalan: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527194" y="4526280"/>
            <a:ext cx="31373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Penggunaan float menimbulkan biner artefak (3*0.1=0.30000000000000004) dan voucher tumpuk membuat tagihan -Rp 22.200.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527194" y="5440680"/>
            <a:ext cx="329184" cy="32918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9490" y="5522976"/>
            <a:ext cx="164592" cy="16459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956962" y="5440680"/>
            <a:ext cx="27258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Solusi Perbaikan: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4527194" y="5852160"/>
            <a:ext cx="31373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Migrasi ke decimal.Decimal dan validasi batas atas min(discount, subtotal).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8094269" y="1600200"/>
            <a:ext cx="3594506" cy="484632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8322869" y="182880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0029" y="1920240"/>
            <a:ext cx="164592" cy="164592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8688629" y="18288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FAULT 03</a:t>
            </a:r>
            <a:endParaRPr lang="en-US" sz="1250" dirty="0"/>
          </a:p>
        </p:txBody>
      </p:sp>
      <p:sp>
        <p:nvSpPr>
          <p:cNvPr id="39" name="Text 30"/>
          <p:cNvSpPr txBox="1"/>
          <p:nvPr/>
        </p:nvSpPr>
        <p:spPr>
          <a:xfrm>
            <a:off x="8322869" y="2331720"/>
            <a:ext cx="31373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Phantom Stock Deduction (No Transaction Rollback)</a:t>
            </a:r>
            <a:endParaRPr lang="en-US" sz="1600" dirty="0"/>
          </a:p>
        </p:txBody>
      </p:sp>
      <p:sp>
        <p:nvSpPr>
          <p:cNvPr id="40" name="Shape 31"/>
          <p:cNvSpPr/>
          <p:nvPr/>
        </p:nvSpPr>
        <p:spPr>
          <a:xfrm>
            <a:off x="8277149" y="3063240"/>
            <a:ext cx="3228746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414309" y="3136392"/>
            <a:ext cx="2954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Modul: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order_service.py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Kategori: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Data Integrity &amp; Transactions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Severity: </a:t>
            </a:r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CRITICAL / DATA LOSS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322869" y="411480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5165" y="4197096"/>
            <a:ext cx="164592" cy="164592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752637" y="4114800"/>
            <a:ext cx="27258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</a:rPr>
              <a:t>Gejala Kegagalan:</a:t>
            </a:r>
            <a:endParaRPr lang="en-US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8322869" y="4526280"/>
            <a:ext cx="31373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Payment gateway mengalami network timeout. Pesanan gagal tetapi stok gudang hilang permanen tanpa kembali.</a:t>
            </a:r>
            <a:endParaRPr lang="en-US" sz="1250" dirty="0"/>
          </a:p>
        </p:txBody>
      </p:sp>
      <p:sp>
        <p:nvSpPr>
          <p:cNvPr id="46" name="Shape 36"/>
          <p:cNvSpPr/>
          <p:nvPr/>
        </p:nvSpPr>
        <p:spPr>
          <a:xfrm>
            <a:off x="8322869" y="5440680"/>
            <a:ext cx="329184" cy="32918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5165" y="5522976"/>
            <a:ext cx="164592" cy="16459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8752637" y="5440680"/>
            <a:ext cx="27258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Solusi Perbaikan:</a:t>
            </a:r>
            <a:endParaRPr lang="en-US" sz="1400" dirty="0"/>
          </a:p>
        </p:txBody>
      </p:sp>
      <p:sp>
        <p:nvSpPr>
          <p:cNvPr id="49" name="Text 38"/>
          <p:cNvSpPr txBox="1"/>
          <p:nvPr/>
        </p:nvSpPr>
        <p:spPr>
          <a:xfrm>
            <a:off x="8322869" y="5852160"/>
            <a:ext cx="31373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Penerapan Compensating Transaction (try-except-rollback) untuk menjamin atomisitas.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1D48"/>
                </a:solidFill>
              </a:rPr>
              <a:t>STUDI KASUS DEFECT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Fault 1: Concurrency Race Condition pada Stok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05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493776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Gejala &amp; Bukti Pengujian Empiris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748B"/>
                </a:solidFill>
              </a:rPr>
              <a:t>Skenario Pengujian (test_faults_reproducer.py):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6032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Stok awal produk 'Laptop Gaming': 1 unit.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10 Thread pelanggan melepaskan checkout secara simultan (Barrier Synchronization).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Ekspektasi: Tepat 1 transaksi berhasil, 9 transaksi ditolak.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Hasil Aktual: 10 transaksi berhasil disetujui!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Stok Akhir di Gudang: -9 (Minus Sembilan).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4572000"/>
            <a:ext cx="4480560" cy="1691640"/>
          </a:xfrm>
          <a:prstGeom prst="roundRect">
            <a:avLst>
              <a:gd name="adj" fmla="val 432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681728"/>
            <a:ext cx="4206240" cy="1508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Hasil Test Runner: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STOK AWAL FISIK     : 1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FDA4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TRANSAKSI SUKSES    : 10 (Seharusnya maks 1!)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FDA4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STOK AKHIR DI GUDANG: -9</a:t>
            </a:r>
            <a:endParaRPr lang="en-US" sz="13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FAULT 1 BERHASIL DIBUKTIKAN (OVERSELLING)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0" y="1600200"/>
            <a:ext cx="5973775" cy="2994660"/>
          </a:xfrm>
          <a:prstGeom prst="roundRect">
            <a:avLst>
              <a:gd name="adj" fmla="val 36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943600" y="1764792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Analisis Cacat Kode (Source Code Flaw)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148840"/>
            <a:ext cx="5516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</a:rPr>
              <a:t>File: src/shop/inventory.py (VulnerableInventoryManager)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2468880"/>
            <a:ext cx="5608015" cy="1988820"/>
          </a:xfrm>
          <a:prstGeom prst="roundRect">
            <a:avLst>
              <a:gd name="adj" fmla="val 367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2468880"/>
            <a:ext cx="5242255" cy="1988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deduct_stock(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sku: str, quantity: int):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Pengecekan stok (Time of Check)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._products[sku].stock &gt;= quantity: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Jeda waktu / Context switch thread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time.sleep(0.005)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Pengurangan stok (Time of Use) - CACAT!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._products[sku].stock -= quantity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True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False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0" y="4777740"/>
            <a:ext cx="5973775" cy="1668780"/>
          </a:xfrm>
          <a:prstGeom prst="roundRect">
            <a:avLst>
              <a:gd name="adj" fmla="val 6575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97880" y="496062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3892" y="5056632"/>
            <a:ext cx="192024" cy="19202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46520" y="4960620"/>
            <a:ext cx="5059375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E11D48"/>
                </a:solidFill>
              </a:rPr>
              <a:t>Titik Lemah (TOCTOU):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Di antara baris pengecekan 'if' dan eksekusi pengurangan '-=', thread lain sempat membaca nilai stok yang belum berubah. Tidak ada mutual exclusion (lock) yang melindungi critical section.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RCA Defect 1: 5-Whys &amp; Fishbone Diagram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06 /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54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5-Whys Analysis (Defect 1)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155448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Ishikawa (Fishbone) 4M Category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2221992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0848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1: Mengapa stok bisa bernilai -9?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Karena ada 10 transaksi yang disetujui bersamaan pada stok 1.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852928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306324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26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2: Mengapa 10 transaksi bisa disetujui?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Karena seluruh 10 thread mendeteksi stok &gt;= 1 masih terpenuhi.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904488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7673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3: Mengapa semua thread membaca nilai yang sama?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Pembacaan dilakukan paralel sebelum thread lain sempat mengurangi stok.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535424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" y="4745736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60857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4: Mengapa operasi baca-kurang tidak sinkron?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Tidak ada implementasi Mutex Lock pada critical section data stok.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376672"/>
            <a:ext cx="5669280" cy="1024128"/>
          </a:xfrm>
          <a:prstGeom prst="roundRect">
            <a:avLst>
              <a:gd name="adj" fmla="val 10714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705856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97296"/>
            <a:ext cx="182880" cy="18288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34440" y="5449824"/>
            <a:ext cx="4754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11D48"/>
                </a:solidFill>
              </a:rPr>
              <a:t>Why 5: AKAR MASALAH (Root Cause):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Developer mengira operasi memori otomatis atomik &amp; pipeline QA tidak memiliki concurrency stress test.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629400" y="2324862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425446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223760" y="208483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9488"/>
                </a:solidFill>
              </a:rPr>
              <a:t>MAN (SDM &amp; Pengetahuan)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Kurangnya pemahaman developer terkait Thread Safety &amp; Race Condition pada arsitektur web concurrently-driven.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46520" y="313182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629400" y="3445002"/>
            <a:ext cx="402336" cy="40233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354558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23760" y="320497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366F1"/>
                </a:solidFill>
              </a:rPr>
              <a:t>MACHINE (Infrastruktur / Runtime)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Runtime Python multi-threading melakukan preemptive thread switching saat operasi I/O atau sleep.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6446520" y="425196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629400" y="4565142"/>
            <a:ext cx="402336" cy="40233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66572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223760" y="432511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97706"/>
                </a:solidFill>
              </a:rPr>
              <a:t>METHOD (Prosedur &amp; Pengujian)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Pengujian hanya berfokus pada single-threaded unit test. Tidak ada checklist Concurrency Code Review.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446520" y="537210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29400" y="5685282"/>
            <a:ext cx="402336" cy="402336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5785866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223760" y="544525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11D48"/>
                </a:solidFill>
              </a:rPr>
              <a:t>MATERIAL (Spesifikasi &amp; Desain)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Spesifikasi SRS tidak mendefinisikan batasan load transaksi bersamaan pada event Flash Sale.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6A34A"/>
                </a:solidFill>
              </a:rPr>
              <a:t>SOLUSI &amp; VERIFIKASI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Perbaikan Defect 1: Thread-Safe Mutex Lock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07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973775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64792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Implementasi Kode Perbaikan (Fixed)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5608015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240280"/>
            <a:ext cx="5242255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FixedInventoryManager: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__init__(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._products = {}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KUNCI MUTEX REENTRANT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._lock = threading.RLock()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deduct_stock(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sku: str, quantity: int):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._lock:  </a:t>
            </a:r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Critical Section Terkunci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._products[sku].stock &gt;= quantity: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time.sleep(0.005)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._products[sku].stock -= quantity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True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False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892040"/>
            <a:ext cx="5973775" cy="1554480"/>
          </a:xfrm>
          <a:prstGeom prst="roundRect">
            <a:avLst>
              <a:gd name="adj" fmla="val 7059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507492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5170932"/>
            <a:ext cx="192024" cy="19202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5074920"/>
            <a:ext cx="5059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6A34A"/>
                </a:solidFill>
              </a:rPr>
              <a:t>Prinsip Solusi: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Blok 'with self._lock' memastikan operasi pengecekan dan pengurangan stok bersifat ATOMIK. Hanya 1 thread yang diizinkan mengakses data stok dalam satu waktu.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51015" y="1600200"/>
            <a:ext cx="493776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979615" y="178308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915" y="189738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73975" y="1783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Hasil Verifikasi Otomatis (test_faults_fixed.py)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6979615" y="2377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748B"/>
                </a:solidFill>
              </a:rPr>
              <a:t>Hasil Eksekusi Unit Test Verifikasi:</a:t>
            </a:r>
            <a:endParaRPr lang="en-US" sz="12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2916936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436815" y="2743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Stok Awal Fisik: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1 Unit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071055" y="3310128"/>
            <a:ext cx="42976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055" y="3483864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6815" y="331012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Permintaan Masuk: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10 Thread Paralel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071055" y="3877056"/>
            <a:ext cx="42976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055" y="4050792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36815" y="387705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Transaksi Sukses: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1 Transaksi (100% Sesuai)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071055" y="4443984"/>
            <a:ext cx="42976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4617720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436815" y="444398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Transaksi Ditolak: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9 Transaksi (Aman ditolak)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7071055" y="5010912"/>
            <a:ext cx="42976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1055" y="5184648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36815" y="50109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Stok Akhir Gudang: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0 Unit (Tidak Pernah Minus!)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6933895" y="5605272"/>
            <a:ext cx="4572000" cy="512064"/>
          </a:xfrm>
          <a:prstGeom prst="roundRect">
            <a:avLst>
              <a:gd name="adj" fmla="val 14286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1055" y="5751576"/>
            <a:ext cx="219456" cy="219456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436815" y="55778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</a:rPr>
              <a:t>Status Pengujian: </a:t>
            </a:r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</a:rPr>
              <a:t>PASSED / OK (Zero Overselling)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1D48"/>
                </a:solidFill>
              </a:rPr>
              <a:t>STUDI KASUS DEFECT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Fault 2: Float Precision Leak &amp; Unbounded Discount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08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493776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Gejala &amp; Bukti Pengujian Empiris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748B"/>
                </a:solidFill>
              </a:rPr>
              <a:t>Skenario Kasus Nyata: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715768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</a:rPr>
              <a:t>Kasus A: Pecahan Moneter (3 x Rp 0.1)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Hasil float: Rp 0.30000000000000004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Dampak: Residu pembulatan merusak laporan keuangan audit.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069080"/>
            <a:ext cx="4480560" cy="2194560"/>
          </a:xfrm>
          <a:prstGeom prst="roundRect">
            <a:avLst>
              <a:gd name="adj" fmla="val 3333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178808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</a:rPr>
              <a:t>Kasus B: Promo Tumpuk Tanpa Batas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Harga Buku: Rp 100.000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Diskon Kupon 50%: Rp 50.000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Voucher Tambahan: Rp 70.000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Total Diskon: Rp 120.000 (Melebihi Subtotal!)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Dasar Pajak: Rp -20.000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Pajak (PPN 11%): Rp -2.200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b="1" dirty="0">
                <a:solidFill>
                  <a:srgbClr val="E11D48"/>
                </a:solidFill>
              </a:rPr>
              <a:t>TOTAL TAGIHAN: -Rp 22.200 (NEGATIF!)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715000" y="1600200"/>
            <a:ext cx="5973775" cy="258318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943600" y="1764792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Analisis Cacat Kode (Source Code Flaw)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148840"/>
            <a:ext cx="5516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</a:rPr>
              <a:t>File: src/shop/pricing.py (VulnerablePricingEngine)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97880" y="2468880"/>
            <a:ext cx="5608015" cy="1577340"/>
          </a:xfrm>
          <a:prstGeom prst="roundRect">
            <a:avLst>
              <a:gd name="adj" fmla="val 46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2468880"/>
            <a:ext cx="5242255" cy="15773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calculate_totals(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items, percentage_discount, fixed_discount):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subtotal = sum(i.quantity * i.unit_price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items)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Float inexactness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discount_pct = subtotal * (percentage_discount / 100.0)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Akumulasi tanpa batas atas (No Ceiling Cap)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total_discount = discount_pct + fixed_discount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taxable_amount = subtotal - total_discount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BISA MINUS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 = taxable_amount *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.tax_rate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{'total': taxable_amount + tax}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0" y="4366260"/>
            <a:ext cx="5973775" cy="2080260"/>
          </a:xfrm>
          <a:prstGeom prst="roundRect">
            <a:avLst>
              <a:gd name="adj" fmla="val 5275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454914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3892" y="4645152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446520" y="4549140"/>
            <a:ext cx="5059375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E11D48"/>
                </a:solidFill>
              </a:rPr>
              <a:t>Titik Lemah: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1. Tipe data 'float' IEEE 754 tidak tepat untuk kalkulasi moneter.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2. Tidak ada boundary check bahwa total_discount tidak boleh melebihi subtotal, dan total tagihan tidak boleh &lt; 0.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RCA Defect 2: 5-Whys &amp; Fishbone Diagram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09 /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54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5-Whys Analysis (Defect 2)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155448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Ishikawa (Fishbone) 4M Category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2221992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0848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1: Mengapa total invoice bernilai negatif (-Rp 22.200)?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Karena nilai potongan diskon lebih besar dari harga pokok barang.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852928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306324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26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2: Mengapa diskon bisa lebih besar dari subtotal?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Sistem menjumlahkan voucher persentase dan nominal tanpa batasan.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904488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7673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3: Mengapa tidak dibatasi batas maksimal diskon?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Developer menerapkan formula matematika langsung tanpa aturan bisnis 'cap'.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535424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" y="4745736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60857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4: Mengapa ada angka desimal biner aneh (0.3000...4)?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Menggunakan tipe primitif float bawaan CPU daripada representasi desimal moneter.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376672"/>
            <a:ext cx="5669280" cy="1024128"/>
          </a:xfrm>
          <a:prstGeom prst="roundRect">
            <a:avLst>
              <a:gd name="adj" fmla="val 10714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705856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97296"/>
            <a:ext cx="182880" cy="18288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34440" y="5449824"/>
            <a:ext cx="4754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11D48"/>
                </a:solidFill>
              </a:rPr>
              <a:t>Why 5: AKAR MASALAH (Root Cause):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Ketiadaan Value Object 'Money' berbasis Decimal dan tidak dilakukannya Boundary Value Analysis (BVA) pada skenario diskon.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629400" y="2324862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425446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223760" y="208483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9488"/>
                </a:solidFill>
              </a:rPr>
              <a:t>MAN (SDM &amp; Pengetahuan)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Developer belum memahami keterbatasan representasi biner IEEE 754 float untuk perhitungan akuntansi.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46520" y="313182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629400" y="3445002"/>
            <a:ext cx="402336" cy="40233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354558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23760" y="320497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366F1"/>
                </a:solidFill>
              </a:rPr>
              <a:t>MACHINE (Hardware &amp; Floating Point)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ALU komputer merepresentasikan bilangan pecahan dalam basis 2 biner, bukan basis 10 desimal.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6446520" y="425196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629400" y="4565142"/>
            <a:ext cx="402336" cy="40233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66572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223760" y="432511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97706"/>
                </a:solidFill>
              </a:rPr>
              <a:t>METHOD (Pengujian &amp; Verifikasi)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Unit testing hanya menguji angka bulat sederhana (happy path); tidak menguji nilai batas ekstrim (BVA).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446520" y="537210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29400" y="5685282"/>
            <a:ext cx="402336" cy="402336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5785866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223760" y="544525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11D48"/>
                </a:solidFill>
              </a:rPr>
              <a:t>MATERIAL (Aturan Bisnis &amp; Schema)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Spesifikasi promosi dari tim marketing tidak mendefinisikan aturan kombinasi voucher (stackable rule).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6A34A"/>
                </a:solidFill>
              </a:rPr>
              <a:t>SOLUSI &amp; VERIFIKASI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Perbaikan Defect 2: Decimal Moneter &amp; Boundary Cap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10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6613855" cy="2735580"/>
          </a:xfrm>
          <a:prstGeom prst="roundRect">
            <a:avLst>
              <a:gd name="adj" fmla="val 4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64792"/>
            <a:ext cx="6156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Implementasi Kode Perbaikan (Fixed)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6248095" cy="1958340"/>
          </a:xfrm>
          <a:prstGeom prst="roundRect">
            <a:avLst>
              <a:gd name="adj" fmla="val 3735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240280"/>
            <a:ext cx="5882335" cy="19583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decimal 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Decimal, ROUND_HALF_UP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FixedPricingEngine: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calculate_totals(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items, pct_disc, fixed_disc):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subtotal = sum(Decimal(str(i.qty))*Decimal(str(i.price)) ...)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safe_pct = max(0.0, min(100.0, pct_disc))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disc_pct = subtotal * (Decimal(str(safe_pct)) / Decimal('100'))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disc_fixed = max(Decimal('0'), Decimal(str(fixed_disc)))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BOUNDARY CEILING CAP (Diskon maks = subtotal)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effective_discount = min(disc_pct + disc_fixed, subtotal)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taxable = max(Decimal('0'), subtotal - effective_discount)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tax = (taxable * 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.tax_rate).quantize(Decimal('0.01'))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total = (taxable + tax).quantize(Decimal('0.01'))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{'subtotal': subtotal, 'discount': effective_discount, 'total': total}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472940"/>
            <a:ext cx="6613855" cy="1973580"/>
          </a:xfrm>
          <a:prstGeom prst="roundRect">
            <a:avLst>
              <a:gd name="adj" fmla="val 5560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465582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4751832"/>
            <a:ext cx="192024" cy="19202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655820"/>
            <a:ext cx="5699455" cy="169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6A34A"/>
                </a:solidFill>
              </a:rPr>
              <a:t>Prinsip Solusi: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1. Menggunakan Decimal untuk presisi matematis eksak.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2. Fungsi min() menjamin diskon tidak pernah melebihi harga belanja.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3. Nilai total diproteksi minimal Rp 0.00.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91095" y="1600200"/>
            <a:ext cx="4297680" cy="48463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19695" y="178308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995" y="189738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14055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Hasil Verifikasi Otomatis (test_faults_fixed.py)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619695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748B"/>
                </a:solidFill>
              </a:rPr>
              <a:t>Hasil Eksekusi Unit Test Verifikasi:</a:t>
            </a:r>
            <a:endParaRPr lang="en-US" sz="12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135" y="288493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076895" y="2743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Subtotal Belanja: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Rp 100,000.00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711135" y="3246120"/>
            <a:ext cx="3657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135" y="338785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76895" y="3246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Diskon Terpasang: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50% + Rp 70,000 (Total Rp 120,000)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711135" y="3749040"/>
            <a:ext cx="3657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1135" y="3890772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076895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Diskon Efektif: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Rp 100,000.00 (Dibatasi setara subtotal)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711135" y="4251960"/>
            <a:ext cx="3657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135" y="439369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076895" y="4251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Dasar Pajak &amp; PPN: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Rp 0.00 (Tidak pernah minus!)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7711135" y="4754880"/>
            <a:ext cx="3657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1135" y="4896612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076895" y="47548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TOTAL TAGIHAN AKHIR: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Rp 0.00 (Aman, zero leakage)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7711135" y="5257800"/>
            <a:ext cx="3657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1135" y="5399532"/>
            <a:ext cx="219456" cy="219456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76895" y="52578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Uji Presisi 3 * 0.1: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Tepat 0.30 (Tanpa biner artefak)</a:t>
            </a:r>
            <a:endParaRPr lang="en-US" sz="1250" dirty="0"/>
          </a:p>
        </p:txBody>
      </p:sp>
      <p:sp>
        <p:nvSpPr>
          <p:cNvPr id="35" name="Shape 25"/>
          <p:cNvSpPr/>
          <p:nvPr/>
        </p:nvSpPr>
        <p:spPr>
          <a:xfrm>
            <a:off x="7573975" y="5788152"/>
            <a:ext cx="3931920" cy="448056"/>
          </a:xfrm>
          <a:prstGeom prst="roundRect">
            <a:avLst>
              <a:gd name="adj" fmla="val 16327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1135" y="5902452"/>
            <a:ext cx="219456" cy="21945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076895" y="57607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</a:rPr>
              <a:t>Status Pengujian: </a:t>
            </a:r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</a:rPr>
              <a:t>PASSED / OK (Presisi Terjamin)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1D48"/>
                </a:solidFill>
              </a:rPr>
              <a:t>STUDI KASUS DEFECT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Fault 3: Phantom Stock Deduction (No Rollback)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11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493776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Gejala &amp; Bukti Pengujian Empiris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748B"/>
                </a:solidFill>
              </a:rPr>
              <a:t>Skenario Kasus Nyata: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6032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Stok awal produk 'Smartphone Flagship': 5 unit.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Pelanggan memesan 2 unit.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Saat proses charge ke payment gateway bank, terjadi Network Timeout (HTTP 504).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Sistem menangkap exception dan menandai status order: FAILED.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Pelanggan tidak dikenakan biaya sama sekali.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617720"/>
            <a:ext cx="4480560" cy="868680"/>
          </a:xfrm>
          <a:prstGeom prst="roundRect">
            <a:avLst>
              <a:gd name="adj" fmla="val 8421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7091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1D48"/>
                </a:solidFill>
              </a:rPr>
              <a:t>ANOMALI PARAH: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Stok di gudang berkurang menjadi 3 unit dan TIDAK DIKEMBALIKAN!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577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Dampak: 2 Unit barang hilang secara misterius (Phantom Deduction).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715000" y="1600200"/>
            <a:ext cx="5973775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943600" y="1764792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Analisis Cacat Kode (Source Code Flaw)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148840"/>
            <a:ext cx="5516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</a:rPr>
              <a:t>File: src/shop/order_service.py (VulnerableOrderService)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97880" y="2468880"/>
            <a:ext cx="5608015" cy="2286000"/>
          </a:xfrm>
          <a:prstGeom prst="roundRect">
            <a:avLst>
              <a:gd name="adj" fmla="val 32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2468880"/>
            <a:ext cx="5242255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checkout(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customer, items, ...):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Deduksi stok dilakukan di awal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item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items: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.inventory.deduct_stock(item.sku, item.quantity)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Pembayaran ke gateway pihak ketiga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.gateway.process_charge(...)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order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PaymentError as err: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CACAT: Error ditangkap tapi LUPA ROLLBACK STOK!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order.status = OrderStatus.FAILED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order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Stok gudang dibiarkan hilang!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0" y="5074920"/>
            <a:ext cx="5973775" cy="137160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525780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3892" y="5353812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446520" y="5257800"/>
            <a:ext cx="5059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E11D48"/>
                </a:solidFill>
              </a:rPr>
              <a:t>Titik Lemah: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Ketiadaan prinsip atomisitas transaksi (All-or-Nothing). Alur multi-langkah tidak memiliki blok kompensasi pemulihan state saat terjadi kegagalan parsial.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RCA Defect 3: 5-Whys &amp; Fishbone Diagram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12 /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54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5-Whys Analysis (Defect 3)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155448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Ishikawa (Fishbone) 4M Category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2221992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0848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1: Mengapa stok gudang berkurang padahal pesanan batal?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Karena pemotongan stok dilakukan sebelum otorisasi gateway berhasil.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852928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306324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26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2: Mengapa stok tidak dikembalikan saat payment error?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Blok catch exception hanya mencatat pesan error tanpa memanggil restore_stock.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904488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7673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3: Mengapa tidak ada mekanisme kompensasi rollback?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Layanan checkout tidak dirancang mengikuti pola transaksi atomik.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535424"/>
            <a:ext cx="566928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" y="4745736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60857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</a:rPr>
              <a:t>Why 4: Mengapa masalah ini tidak ditemukan saat fase testing?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Pengujian tim QA hanya menguji skenario sukses (Happy Path testing).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376672"/>
            <a:ext cx="5669280" cy="1024128"/>
          </a:xfrm>
          <a:prstGeom prst="roundRect">
            <a:avLst>
              <a:gd name="adj" fmla="val 10714"/>
            </a:avLst>
          </a:prstGeom>
          <a:solidFill>
            <a:srgbClr val="FFF1F2"/>
          </a:solidFill>
          <a:ln w="12700">
            <a:solidFill>
              <a:srgbClr val="FFF1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705856"/>
            <a:ext cx="365760" cy="36576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97296"/>
            <a:ext cx="182880" cy="18288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34440" y="5449824"/>
            <a:ext cx="4754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11D48"/>
                </a:solidFill>
              </a:rPr>
              <a:t>Why 5: AKAR MASALAH (Root Cause):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Ketiadaan pola Compensating Transaction (Saga Pattern) dan tidak diterapkannya Negative &amp; Fault-Injection Testing.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629400" y="2324862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425446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223760" y="208483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9488"/>
                </a:solidFill>
              </a:rPr>
              <a:t>MAN (SDM &amp; Pola Pikir)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Developer berfokus pada alur normal dan mengabaikan penanganan kondisi abnormal / parsial error.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46520" y="313182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629400" y="3445002"/>
            <a:ext cx="402336" cy="40233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354558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23760" y="320497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366F1"/>
                </a:solidFill>
              </a:rPr>
              <a:t>MACHINE (Jaringan &amp; Provider Eksternal)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Ketergantungan pada 3rd-party Payment Gateway yang rentan fluktuasi koneksi dan timeout.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6446520" y="425196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629400" y="4565142"/>
            <a:ext cx="402336" cy="40233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66572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223760" y="432511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97706"/>
                </a:solidFill>
              </a:rPr>
              <a:t>METHOD (Pengujian &amp; Error Handling)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Ketiadaan pengujian Chaos Engineering / Fault-Injection untuk mensimulasikan kegagalan jaringan.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446520" y="5372100"/>
            <a:ext cx="5242255" cy="10287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29400" y="5685282"/>
            <a:ext cx="402336" cy="402336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5785866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223760" y="5445252"/>
            <a:ext cx="4282135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11D48"/>
                </a:solidFill>
              </a:rPr>
              <a:t>MATERIAL (Arsitektur Desain)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Arsitektur tidak memiliki Distributed Transaction Coordinator atau job rekonsiliasi stok otomatis.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6A34A"/>
                </a:solidFill>
              </a:rPr>
              <a:t>SOLUSI &amp; VERIFIKASI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Perbaikan Defect 3: Compensating Transaction Rollback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13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6705295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64792"/>
            <a:ext cx="6248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Implementasi Kode Perbaikan (Fixed)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6339535" cy="3017520"/>
          </a:xfrm>
          <a:prstGeom prst="roundRect">
            <a:avLst>
              <a:gd name="adj" fmla="val 242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240280"/>
            <a:ext cx="5973775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FixedOrderService: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checkout(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customer, items, ...):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allocated_items = []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Alokasi stok dengan pelacakan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item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items: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.inventory.deduct_stock(item.sku, item.qty):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._rollback(allocated_items)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order_failed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allocated_items.append(item)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Proses pembayaran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.gateway.process_charge(...)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order_success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Exception as err: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KOMPENSASI OTOMATIS SAAT TERJADI ERROR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._rollback(allocated_items)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order.status = OrderStatus.FAILED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order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5532120"/>
            <a:ext cx="6705295" cy="9144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571500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5811012"/>
            <a:ext cx="192024" cy="19202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5715000"/>
            <a:ext cx="5790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6A34A"/>
                </a:solidFill>
              </a:rPr>
              <a:t>Prinsip Solusi: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E293B"/>
                </a:solidFill>
              </a:rPr>
              <a:t>Pola Unit-of-Work / Saga Rollback. Setiap mutasi state yang telah dilakukan dicatat dan dijamin dipulihkan (*compensated*) secara otomatis jika langkah berikutnya mengalami kegagalan.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82535" y="1600200"/>
            <a:ext cx="4206240" cy="48463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11135" y="178308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435" y="189738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305495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Hasil Verifikasi Otomatis (test_faults_fixed.py)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711135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748B"/>
                </a:solidFill>
              </a:rPr>
              <a:t>Hasil Eksekusi Unit Test Verifikasi:</a:t>
            </a:r>
            <a:endParaRPr lang="en-US" sz="12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575" y="285350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68335" y="2743200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Stok Awal Gudang: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5 Unit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802575" y="3183255"/>
            <a:ext cx="3566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2575" y="3293555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168335" y="3183255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Jumlah Pesanan: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2 Unit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802575" y="3623310"/>
            <a:ext cx="3566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2575" y="3733610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68335" y="3623310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Simulasi Gateway: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HTTP 504 Gateway Timeout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802575" y="4063365"/>
            <a:ext cx="3566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2575" y="4173664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168335" y="4063365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Status Pesanan: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FAILED (Dibatalkan Aman)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7802575" y="4503420"/>
            <a:ext cx="3566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2575" y="4613719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68335" y="4503420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Aksi Sistem: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Compensating Rollback Dieksekusi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7802575" y="4943475"/>
            <a:ext cx="3566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2575" y="5053775"/>
            <a:ext cx="219456" cy="219456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168335" y="4943475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Stok Pasca Rollback: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5 Unit (Kembali Utuh 100%!)</a:t>
            </a:r>
            <a:endParaRPr lang="en-US" sz="1250" dirty="0"/>
          </a:p>
        </p:txBody>
      </p:sp>
      <p:sp>
        <p:nvSpPr>
          <p:cNvPr id="35" name="Shape 25"/>
          <p:cNvSpPr/>
          <p:nvPr/>
        </p:nvSpPr>
        <p:spPr>
          <a:xfrm>
            <a:off x="7802575" y="5383530"/>
            <a:ext cx="3566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2575" y="5493829"/>
            <a:ext cx="219456" cy="21945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168335" y="5383530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Phantom Deduction: 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</a:rPr>
              <a:t>0 Unit (Tereliminasi Total)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7665415" y="5851017"/>
            <a:ext cx="3840480" cy="385191"/>
          </a:xfrm>
          <a:prstGeom prst="roundRect">
            <a:avLst>
              <a:gd name="adj" fmla="val 18991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02575" y="5933884"/>
            <a:ext cx="219456" cy="2194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8168335" y="5823585"/>
            <a:ext cx="329184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</a:rPr>
              <a:t>Status Pengujian: </a:t>
            </a:r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</a:rPr>
              <a:t>PASSED / OK (Data Integrity Terjamin)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</a:rPr>
              <a:t>ACTION PLAN MANAJEMEN MUTU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Matriks Tindakan Korektif &amp; Preventif (CAPA)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14 / 16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585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  <a:gridCol w="3566160"/>
                <a:gridCol w="3593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Defect ID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Defect Description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Corrective Action (Langsung)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Preventive Action (Jangka Panjang)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DEF-01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11D48"/>
                          </a:solidFill>
                        </a:rPr>
                        <a:t>(Critical)</a:t>
                      </a:r>
                      <a:endParaRPr lang="en-US" sz="12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Concurrency Race Condition (Overselling)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Menerapkan threading.RLock pada modul inventory untuk melindungi operasi read-modify-write.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Menambahkan Concurrency Stress Testing (Locust/k6) ke CI/CD; menggunakan Pessimistic Locking di Database.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DEF-02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</a:rPr>
                        <a:t>(High)</a:t>
                      </a:r>
                      <a:endParaRPr lang="en-US" sz="12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Float Precision Leak &amp; Unbounded Discount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Refactoring ke decimal.Decimal dan membatasi total diskon dengan fungsi min(discount, subtotal).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Mewajibkan Boundary Value Analysis (BVA) pada spesifikasi promosi; membuat Value Object Money terpusat.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DEF-03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11D48"/>
                          </a:solidFill>
                        </a:rPr>
                        <a:t>(Critical)</a:t>
                      </a:r>
                      <a:endParaRPr lang="en-US" sz="12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Phantom Stock Deduction (No Rollback)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Menambahkan blok kompensasi try-except-rollback pada service alur pemesanan checkout.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Menerapkan arsitektur Saga Pattern untuk transaksi terdistribusi; menyusun cron job rekonsiliasi data stok.</a:t>
                      </a:r>
                      <a:endParaRPr lang="en-US" sz="1400" dirty="0"/>
                    </a:p>
                  </a:txBody>
                  <a:tcPr marL="137160" marR="13716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</a:rPr>
              <a:t>REKOMENDASI SOFTWARE QUALITY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02920" y="71323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Best Practices Pengujian &amp; Keandalan Sistem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59975" y="384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15 /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47725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7452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Pengujian Nilai Batas (Boundary Value Analysis)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</a:rPr>
              <a:t>Mayoritas defect bisnis (seperti diskon melebihi 100% atau tagihan negatif) terjadi di titik batas ekstrem. Pengujian harus mencakup nilai: 0, nilai batas atas promo, angka negatif, dan nilai pecahan terkecil.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08776" y="1600200"/>
            <a:ext cx="547725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83096" y="1874520"/>
            <a:ext cx="594360" cy="59436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306056" y="187452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Concurrency &amp; Multi-Thread Testing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</a:rPr>
              <a:t>Jangan mengandalkan pengujian single-threaded sederhana. Gunakan mekanisme Barrier Synchronization atau Thread Pool untuk mensimulasikan ribuan transaksi simultan pada resource terbatas.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547725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3434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Chaos Engineering &amp; Fault-Injection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0749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</a:rPr>
              <a:t>Uji ketahanan sistem terhadap skenario terburuk secara sengaja (koneksi payment putus di tengah jalan, database timeout, server restart). Pastikan sistem selalu kembali ke state konsisten.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08776" y="4069080"/>
            <a:ext cx="547725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83096" y="4343400"/>
            <a:ext cx="594360" cy="594360"/>
          </a:xfrm>
          <a:prstGeom prst="ellipse">
            <a:avLst/>
          </a:prstGeom>
          <a:solidFill>
            <a:srgbClr val="E11D4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306056" y="43434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Automated CI/CD Quality Gates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83096" y="50749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</a:rPr>
              <a:t>Terapkan pipeline pengujian otomatis sebelum kode dapat di-merge: linter tipe data statis (mypy), automated regression test, dan mutation testing untuk mengukur efektivitas test suite.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640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KESIMPULAN &amp; LESSON LEARNED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11185855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459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Kualitas perangkat lunak tidak hanya diukur dari kode yang bebas error sintaks, tetapi dari ketahanan logika terhadap konkurensi tinggi, integritas data moneter, dan penanganan kegagalan parsial.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743200"/>
            <a:ext cx="11185855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83464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Metodologi Root Cause Analysis (5-Whys &amp; Fishbone Diagram) terbukti efektif menembus akar masalah terdalam dari sekadar symptom fisik hingga proses pengembangan &amp; arsitektur sistem.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11185855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402336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Melalui verifikasi automated testing, seluruh 3 defect berhasil diselesaikan 100% tanpa regresi.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34924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5EEAD4"/>
                </a:solidFill>
              </a:rPr>
              <a:t>TERIMA KASIH — SESI TANYA JAWAB (Q &amp; A)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Zainul Mutawakkil (NIM: 23EO10003)  •  Mata Kuliah: Analisis dan Pengujian Sistem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 Deck">
  <a:themeElements>
    <a:clrScheme name="RCA Deck">
      <a:dk1>
        <a:srgbClr val="0F172A"/>
      </a:dk1>
      <a:lt1>
        <a:srgbClr val="FFFFFF"/>
      </a:lt1>
      <a:dk2>
        <a:srgbClr val="475569"/>
      </a:dk2>
      <a:lt2>
        <a:srgbClr val="F1F5F9"/>
      </a:lt2>
      <a:accent1>
        <a:srgbClr val="0D9488"/>
      </a:accent1>
      <a:accent2>
        <a:srgbClr val="E11D48"/>
      </a:accent2>
      <a:accent3>
        <a:srgbClr val="D97706"/>
      </a:accent3>
      <a:accent4>
        <a:srgbClr val="16A34A"/>
      </a:accent4>
      <a:accent5>
        <a:srgbClr val="6366F1"/>
      </a:accent5>
      <a:accent6>
        <a:srgbClr val="94A3B8"/>
      </a:accent6>
      <a:hlink>
        <a:srgbClr val="0D9488"/>
      </a:hlink>
      <a:folHlink>
        <a:srgbClr val="6366F1"/>
      </a:folHlink>
    </a:clrScheme>
    <a:fontScheme name="RCA De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RCA &amp; Defect Identification</dc:title>
  <dc:subject>PptxGenJS Presentation</dc:subject>
  <dc:creator>Zainul Mutawakkil</dc:creator>
  <cp:lastModifiedBy>Zainul Mutawakkil</cp:lastModifiedBy>
  <cp:revision>1</cp:revision>
  <dcterms:created xsi:type="dcterms:W3CDTF">2026-10-06T21:29:57Z</dcterms:created>
  <dcterms:modified xsi:type="dcterms:W3CDTF">2026-10-06T21:29:57Z</dcterms:modified>
</cp:coreProperties>
</file>